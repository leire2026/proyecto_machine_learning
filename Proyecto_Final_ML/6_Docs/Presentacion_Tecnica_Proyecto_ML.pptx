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10080625" cy="567055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p:spTree>
      <p:nvGrpSpPr>
        <p:cNvPr id="1" name=""/>
        <p:cNvGrpSpPr/>
        <p:nvPr/>
      </p:nvGrpSpPr>
      <p:grpSpPr>
        <a:xfrm>
          <a:off x="0" y="0"/>
          <a:ext cx="0" cy="0"/>
          <a:chOff x="0" y="0"/>
          <a:chExt cx="0" cy="0"/>
        </a:xfrm>
      </p:grpSpPr>
      <p:sp>
        <p:nvSpPr>
          <p:cNvPr id="7" name="PlaceHolder 1"/>
          <p:cNvSpPr>
            <a:spLocks noGrp="1"/>
          </p:cNvSpPr>
          <p:nvPr>
            <p:ph type="title"/>
          </p:nvPr>
        </p:nvSpPr>
        <p:spPr>
          <a:xfrm>
            <a:off x="502920" y="225360"/>
            <a:ext cx="9047160" cy="922320"/>
          </a:xfrm>
          <a:prstGeom prst="rect">
            <a:avLst/>
          </a:prstGeom>
          <a:noFill/>
          <a:ln w="0">
            <a:noFill/>
          </a:ln>
        </p:spPr>
        <p:txBody>
          <a:bodyPr lIns="0" tIns="0" rIns="0" bIns="0" anchor="ctr">
            <a:spAutoFit/>
          </a:bodyPr>
          <a:p>
            <a:pPr indent="0" algn="ctr">
              <a:lnSpc>
                <a:spcPct val="93000"/>
              </a:lnSpc>
              <a:spcBef>
                <a:spcPts val="187"/>
              </a:spcBef>
              <a:spcAft>
                <a:spcPts val="187"/>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4400" b="0" u="none" strike="noStrike">
              <a:solidFill>
                <a:srgbClr val="000000"/>
              </a:solidFill>
              <a:effectLst/>
              <a:uFillTx/>
              <a:latin typeface="Arial"/>
            </a:endParaRPr>
          </a:p>
        </p:txBody>
      </p:sp>
      <p:sp>
        <p:nvSpPr>
          <p:cNvPr id="8" name="PlaceHolder 2"/>
          <p:cNvSpPr>
            <a:spLocks noGrp="1"/>
          </p:cNvSpPr>
          <p:nvPr>
            <p:ph type="subTitle"/>
          </p:nvPr>
        </p:nvSpPr>
        <p:spPr>
          <a:xfrm>
            <a:off x="502920" y="1327320"/>
            <a:ext cx="9047160" cy="3263760"/>
          </a:xfrm>
          <a:prstGeom prst="rect">
            <a:avLst/>
          </a:prstGeom>
          <a:noFill/>
          <a:ln w="0">
            <a:noFill/>
          </a:ln>
        </p:spPr>
        <p:txBody>
          <a:bodyPr lIns="0" tIns="0" rIns="0" bIns="0" anchor="ctr">
            <a:spAutoFit/>
          </a:bodyPr>
          <a:p>
            <a:pPr marL="343080" indent="-343080" algn="ctr">
              <a:lnSpc>
                <a:spcPct val="93000"/>
              </a:lnSpc>
              <a:spcBef>
                <a:spcPts val="187"/>
              </a:spcBef>
              <a:spcAft>
                <a:spcPts val="187"/>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3200" b="0" u="none" strike="noStrik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5D4C494C-A63F-472A-AE63-2194E7F816F5}" type="slidenum">
              <a:t>&lt;#&gt;</a:t>
            </a:fld>
          </a:p>
        </p:txBody>
      </p:sp>
      <p:sp>
        <p:nvSpPr>
          <p:cNvPr id="6" name="PlaceHolder 5"/>
          <p:cNvSpPr>
            <a:spLocks noGrp="1"/>
          </p:cNvSpPr>
          <p:nvPr>
            <p:ph type="dt" idx="1"/>
          </p:nvPr>
        </p:nvSpPr>
        <p:spPr/>
        <p:txBody>
          <a:bodyPr/>
          <a:p>
            <a:r>
              <a:rPr lang="es-E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Predeterminado">
    <p:spTree>
      <p:nvGrpSpPr>
        <p:cNvPr id="1" name=""/>
        <p:cNvGrpSpPr/>
        <p:nvPr/>
      </p:nvGrpSpPr>
      <p:grpSpPr>
        <a:xfrm>
          <a:off x="0" y="0"/>
          <a:ext cx="0" cy="0"/>
          <a:chOff x="0" y="0"/>
          <a:chExt cx="0" cy="0"/>
        </a:xfrm>
      </p:grpSpPr>
      <p:sp>
        <p:nvSpPr>
          <p:cNvPr id="9" name="PlaceHolder 1"/>
          <p:cNvSpPr>
            <a:spLocks noGrp="1"/>
          </p:cNvSpPr>
          <p:nvPr>
            <p:ph type="title"/>
          </p:nvPr>
        </p:nvSpPr>
        <p:spPr>
          <a:xfrm>
            <a:off x="502920" y="225360"/>
            <a:ext cx="9047160" cy="922320"/>
          </a:xfrm>
          <a:prstGeom prst="rect">
            <a:avLst/>
          </a:prstGeom>
          <a:noFill/>
          <a:ln w="0">
            <a:noFill/>
          </a:ln>
        </p:spPr>
        <p:txBody>
          <a:bodyPr lIns="0" tIns="0" rIns="0" bIns="0" anchor="ctr">
            <a:spAutoFit/>
          </a:bodyPr>
          <a:p>
            <a:pPr indent="0" algn="ctr">
              <a:lnSpc>
                <a:spcPct val="93000"/>
              </a:lnSpc>
              <a:spcBef>
                <a:spcPts val="187"/>
              </a:spcBef>
              <a:spcAft>
                <a:spcPts val="187"/>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4400" b="0" u="none" strike="noStrike">
              <a:solidFill>
                <a:srgbClr val="000000"/>
              </a:solidFill>
              <a:effectLst/>
              <a:uFillTx/>
              <a:latin typeface="Arial"/>
            </a:endParaRPr>
          </a:p>
        </p:txBody>
      </p:sp>
      <p:sp>
        <p:nvSpPr>
          <p:cNvPr id="10" name="PlaceHolder 2"/>
          <p:cNvSpPr>
            <a:spLocks noGrp="1"/>
          </p:cNvSpPr>
          <p:nvPr>
            <p:ph/>
          </p:nvPr>
        </p:nvSpPr>
        <p:spPr>
          <a:xfrm>
            <a:off x="502920" y="1327320"/>
            <a:ext cx="9047160" cy="3263760"/>
          </a:xfrm>
          <a:prstGeom prst="rect">
            <a:avLst/>
          </a:prstGeom>
          <a:noFill/>
          <a:ln w="0">
            <a:noFill/>
          </a:ln>
        </p:spPr>
        <p:txBody>
          <a:bodyPr lIns="0" tIns="28440" rIns="0" bIns="0" anchor="t">
            <a:normAutofit/>
          </a:bodyPr>
          <a:p>
            <a:pPr marL="343080" indent="-343080" algn="l">
              <a:lnSpc>
                <a:spcPct val="93000"/>
              </a:lnSpc>
              <a:spcBef>
                <a:spcPts val="1599"/>
              </a:spcBef>
              <a:spcAft>
                <a:spcPts val="187"/>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3200" b="0" u="none" strike="noStrik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02839149-98F7-4E4B-A4FC-DE2C7FB78A83}" type="slidenum">
              <a:t>&lt;#&gt;</a:t>
            </a:fld>
          </a:p>
        </p:txBody>
      </p:sp>
      <p:sp>
        <p:nvSpPr>
          <p:cNvPr id="6" name="PlaceHolder 5"/>
          <p:cNvSpPr>
            <a:spLocks noGrp="1"/>
          </p:cNvSpPr>
          <p:nvPr>
            <p:ph type="dt" idx="1"/>
          </p:nvPr>
        </p:nvSpPr>
        <p:spPr/>
        <p:txBody>
          <a:bodyPr/>
          <a:p>
            <a:r>
              <a:rPr lang="es-E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502920" y="225360"/>
            <a:ext cx="9047160" cy="922320"/>
          </a:xfrm>
          <a:prstGeom prst="rect">
            <a:avLst/>
          </a:prstGeom>
          <a:noFill/>
          <a:ln w="0">
            <a:noFill/>
          </a:ln>
        </p:spPr>
        <p:txBody>
          <a:bodyPr lIns="0" tIns="0" rIns="0" bIns="0" anchor="ctr">
            <a:noAutofit/>
          </a:bodyPr>
          <a:lstStyle>
            <a:lvl1pPr indent="0" algn="ctr">
              <a:lnSpc>
                <a:spcPct val="93000"/>
              </a:lnSpc>
              <a:spcBef>
                <a:spcPts val="187"/>
              </a:spcBef>
              <a:spcAft>
                <a:spcPts val="187"/>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es-ES" sz="4400" b="0" u="none" strike="noStrike">
                <a:solidFill>
                  <a:srgbClr val="000000"/>
                </a:solidFill>
                <a:effectLst/>
                <a:uFillTx/>
                <a:latin typeface="Arial"/>
              </a:defRPr>
            </a:lvl1pPr>
          </a:lstStyle>
          <a:p>
            <a:pPr indent="0" algn="ctr">
              <a:lnSpc>
                <a:spcPct val="93000"/>
              </a:lnSpc>
              <a:spcBef>
                <a:spcPts val="187"/>
              </a:spcBef>
              <a:spcAft>
                <a:spcPts val="187"/>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es-ES" sz="4400" b="0" u="none" strike="noStrike">
                <a:solidFill>
                  <a:srgbClr val="000000"/>
                </a:solidFill>
                <a:effectLst/>
                <a:uFillTx/>
                <a:latin typeface="Arial"/>
              </a:rPr>
              <a:t>Pulse para editar el formato del texto de título</a:t>
            </a:r>
            <a:endParaRPr lang="es-ES" sz="4400" b="0" u="none" strike="noStrike">
              <a:solidFill>
                <a:srgbClr val="000000"/>
              </a:solidFill>
              <a:effectLst/>
              <a:uFillTx/>
              <a:latin typeface="Arial"/>
            </a:endParaRPr>
          </a:p>
        </p:txBody>
      </p:sp>
      <p:sp>
        <p:nvSpPr>
          <p:cNvPr id="3" name="PlaceHolder 2"/>
          <p:cNvSpPr>
            <a:spLocks noGrp="1"/>
          </p:cNvSpPr>
          <p:nvPr>
            <p:ph type="body"/>
          </p:nvPr>
        </p:nvSpPr>
        <p:spPr>
          <a:xfrm>
            <a:off x="502920" y="1327320"/>
            <a:ext cx="9047160" cy="3263760"/>
          </a:xfrm>
          <a:prstGeom prst="rect">
            <a:avLst/>
          </a:prstGeom>
          <a:noFill/>
          <a:ln w="0">
            <a:noFill/>
          </a:ln>
        </p:spPr>
        <p:txBody>
          <a:bodyPr lIns="0" tIns="28440" rIns="0" bIns="0" anchor="t">
            <a:normAutofit fontScale="85000" lnSpcReduction="19999"/>
          </a:bodyPr>
          <a:lstStyle>
            <a:lvl1pPr marL="343080" indent="-343080" algn="l">
              <a:lnSpc>
                <a:spcPct val="93000"/>
              </a:lnSpc>
              <a:spcBef>
                <a:spcPts val="1599"/>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es-ES" sz="3200" b="0" u="none" strike="noStrike">
                <a:solidFill>
                  <a:srgbClr val="000000"/>
                </a:solidFill>
                <a:effectLst/>
                <a:uFillTx/>
                <a:latin typeface="Arial"/>
              </a:defRPr>
            </a:lvl1pPr>
            <a:lvl2pPr marL="343080" lvl="1" indent="-343080" algn="l">
              <a:lnSpc>
                <a:spcPct val="93000"/>
              </a:lnSpc>
              <a:spcBef>
                <a:spcPts val="1599"/>
              </a:spcBef>
              <a:spcAft>
                <a:spcPts val="187"/>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es-ES" sz="3200" b="0" u="none" strike="noStrike">
                <a:solidFill>
                  <a:srgbClr val="000000"/>
                </a:solidFill>
                <a:effectLst/>
                <a:uFillTx/>
                <a:latin typeface="Arial"/>
              </a:defRPr>
            </a:lvl2pPr>
            <a:lvl3pPr marL="343080" lvl="2" indent="-343080" algn="l">
              <a:lnSpc>
                <a:spcPct val="93000"/>
              </a:lnSpc>
              <a:spcBef>
                <a:spcPts val="1599"/>
              </a:spcBef>
              <a:spcAft>
                <a:spcPts val="187"/>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es-ES" sz="3200" b="0" u="none" strike="noStrike">
                <a:solidFill>
                  <a:srgbClr val="000000"/>
                </a:solidFill>
                <a:effectLst/>
                <a:uFillTx/>
                <a:latin typeface="Arial"/>
              </a:defRPr>
            </a:lvl3pPr>
            <a:lvl4pPr marL="343080" lvl="3" indent="-343080" algn="l">
              <a:lnSpc>
                <a:spcPct val="93000"/>
              </a:lnSpc>
              <a:spcBef>
                <a:spcPts val="1599"/>
              </a:spcBef>
              <a:spcAft>
                <a:spcPts val="187"/>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es-ES" sz="3200" b="0" u="none" strike="noStrike">
                <a:solidFill>
                  <a:srgbClr val="000000"/>
                </a:solidFill>
                <a:effectLst/>
                <a:uFillTx/>
                <a:latin typeface="Arial"/>
              </a:defRPr>
            </a:lvl4pPr>
            <a:lvl5pPr marL="343080" lvl="4" indent="-343080" algn="l">
              <a:lnSpc>
                <a:spcPct val="93000"/>
              </a:lnSpc>
              <a:spcBef>
                <a:spcPts val="1599"/>
              </a:spcBef>
              <a:spcAft>
                <a:spcPts val="187"/>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es-ES" sz="3200" b="0" u="none" strike="noStrike">
                <a:solidFill>
                  <a:srgbClr val="000000"/>
                </a:solidFill>
                <a:effectLst/>
                <a:uFillTx/>
                <a:latin typeface="Arial"/>
              </a:defRPr>
            </a:lvl5pPr>
            <a:lvl6pPr marL="343080" lvl="5" indent="-343080" algn="l">
              <a:lnSpc>
                <a:spcPct val="93000"/>
              </a:lnSpc>
              <a:spcBef>
                <a:spcPts val="1599"/>
              </a:spcBef>
              <a:spcAft>
                <a:spcPts val="187"/>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es-ES" sz="3200" b="0" u="none" strike="noStrike">
                <a:solidFill>
                  <a:srgbClr val="000000"/>
                </a:solidFill>
                <a:effectLst/>
                <a:uFillTx/>
                <a:latin typeface="Arial"/>
              </a:defRPr>
            </a:lvl6pPr>
            <a:lvl7pPr marL="343080" lvl="6" indent="-343080" algn="l">
              <a:lnSpc>
                <a:spcPct val="93000"/>
              </a:lnSpc>
              <a:spcBef>
                <a:spcPts val="1599"/>
              </a:spcBef>
              <a:spcAft>
                <a:spcPts val="187"/>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es-ES" sz="3200" b="0" u="none" strike="noStrike">
                <a:solidFill>
                  <a:srgbClr val="000000"/>
                </a:solidFill>
                <a:effectLst/>
                <a:uFillTx/>
                <a:latin typeface="Arial"/>
              </a:defRPr>
            </a:lvl7pPr>
          </a:lstStyle>
          <a:p>
            <a:pPr marL="343080" indent="-343080" algn="l">
              <a:lnSpc>
                <a:spcPct val="93000"/>
              </a:lnSpc>
              <a:spcBef>
                <a:spcPts val="1599"/>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343080" lvl="1" indent="-343080" algn="l">
              <a:lnSpc>
                <a:spcPct val="93000"/>
              </a:lnSpc>
              <a:spcBef>
                <a:spcPts val="1599"/>
              </a:spcBef>
              <a:spcAft>
                <a:spcPts val="187"/>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es-ES" sz="3200" b="0" u="none" strike="noStrike">
                <a:solidFill>
                  <a:srgbClr val="000000"/>
                </a:solidFill>
                <a:effectLst/>
                <a:uFillTx/>
                <a:latin typeface="Arial"/>
              </a:rPr>
              <a:t>Segundo nivel del esquema</a:t>
            </a:r>
            <a:endParaRPr lang="es-ES" sz="3200" b="0" u="none" strike="noStrike">
              <a:solidFill>
                <a:srgbClr val="000000"/>
              </a:solidFill>
              <a:effectLst/>
              <a:uFillTx/>
              <a:latin typeface="Arial"/>
            </a:endParaRPr>
          </a:p>
          <a:p>
            <a:pPr marL="343080" lvl="2" indent="-343080" algn="l">
              <a:lnSpc>
                <a:spcPct val="93000"/>
              </a:lnSpc>
              <a:spcBef>
                <a:spcPts val="1599"/>
              </a:spcBef>
              <a:spcAft>
                <a:spcPts val="187"/>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es-ES" sz="3200" b="0" u="none" strike="noStrike">
                <a:solidFill>
                  <a:srgbClr val="000000"/>
                </a:solidFill>
                <a:effectLst/>
                <a:uFillTx/>
                <a:latin typeface="Arial"/>
              </a:rPr>
              <a:t>Tercer nivel del esquema</a:t>
            </a:r>
            <a:endParaRPr lang="es-ES" sz="3200" b="0" u="none" strike="noStrike">
              <a:solidFill>
                <a:srgbClr val="000000"/>
              </a:solidFill>
              <a:effectLst/>
              <a:uFillTx/>
              <a:latin typeface="Arial"/>
            </a:endParaRPr>
          </a:p>
          <a:p>
            <a:pPr marL="343080" lvl="3" indent="-343080" algn="l">
              <a:lnSpc>
                <a:spcPct val="93000"/>
              </a:lnSpc>
              <a:spcBef>
                <a:spcPts val="1599"/>
              </a:spcBef>
              <a:spcAft>
                <a:spcPts val="187"/>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es-ES" sz="3200" b="0" u="none" strike="noStrike">
                <a:solidFill>
                  <a:srgbClr val="000000"/>
                </a:solidFill>
                <a:effectLst/>
                <a:uFillTx/>
                <a:latin typeface="Arial"/>
              </a:rPr>
              <a:t>Cuarto nivel del esquema</a:t>
            </a:r>
            <a:endParaRPr lang="es-ES" sz="3200" b="0" u="none" strike="noStrike">
              <a:solidFill>
                <a:srgbClr val="000000"/>
              </a:solidFill>
              <a:effectLst/>
              <a:uFillTx/>
              <a:latin typeface="Arial"/>
            </a:endParaRPr>
          </a:p>
          <a:p>
            <a:pPr marL="343080" lvl="4" indent="-343080" algn="l">
              <a:lnSpc>
                <a:spcPct val="93000"/>
              </a:lnSpc>
              <a:spcBef>
                <a:spcPts val="1599"/>
              </a:spcBef>
              <a:spcAft>
                <a:spcPts val="187"/>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es-ES" sz="3200" b="0" u="none" strike="noStrike">
                <a:solidFill>
                  <a:srgbClr val="000000"/>
                </a:solidFill>
                <a:effectLst/>
                <a:uFillTx/>
                <a:latin typeface="Arial"/>
              </a:rPr>
              <a:t>Quinto nivel del esquema</a:t>
            </a:r>
            <a:endParaRPr lang="es-ES" sz="3200" b="0" u="none" strike="noStrike">
              <a:solidFill>
                <a:srgbClr val="000000"/>
              </a:solidFill>
              <a:effectLst/>
              <a:uFillTx/>
              <a:latin typeface="Arial"/>
            </a:endParaRPr>
          </a:p>
          <a:p>
            <a:pPr marL="343080" lvl="5" indent="-343080" algn="l">
              <a:lnSpc>
                <a:spcPct val="93000"/>
              </a:lnSpc>
              <a:spcBef>
                <a:spcPts val="1599"/>
              </a:spcBef>
              <a:spcAft>
                <a:spcPts val="187"/>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es-ES" sz="3200" b="0" u="none" strike="noStrike">
                <a:solidFill>
                  <a:srgbClr val="000000"/>
                </a:solidFill>
                <a:effectLst/>
                <a:uFillTx/>
                <a:latin typeface="Arial"/>
              </a:rPr>
              <a:t>Sexto nivel del esquema</a:t>
            </a:r>
            <a:endParaRPr lang="es-ES" sz="3200" b="0" u="none" strike="noStrike">
              <a:solidFill>
                <a:srgbClr val="000000"/>
              </a:solidFill>
              <a:effectLst/>
              <a:uFillTx/>
              <a:latin typeface="Arial"/>
            </a:endParaRPr>
          </a:p>
          <a:p>
            <a:pPr marL="343080" lvl="6" indent="-343080" algn="l">
              <a:lnSpc>
                <a:spcPct val="93000"/>
              </a:lnSpc>
              <a:spcBef>
                <a:spcPts val="1599"/>
              </a:spcBef>
              <a:spcAft>
                <a:spcPts val="187"/>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es-ES" sz="3200" b="0" u="none" strike="noStrike">
                <a:solidFill>
                  <a:srgbClr val="000000"/>
                </a:solidFill>
                <a:effectLst/>
                <a:uFillTx/>
                <a:latin typeface="Arial"/>
              </a:rPr>
              <a:t>Séptimo nivel del esquema</a:t>
            </a:r>
            <a:endParaRPr lang="es-ES" sz="3200" b="0" u="none" strike="noStrike">
              <a:solidFill>
                <a:srgbClr val="000000"/>
              </a:solidFill>
              <a:effectLst/>
              <a:uFillTx/>
              <a:latin typeface="Arial"/>
            </a:endParaRPr>
          </a:p>
        </p:txBody>
      </p:sp>
      <p:sp>
        <p:nvSpPr>
          <p:cNvPr id="4" name="PlaceHolder 3"/>
          <p:cNvSpPr>
            <a:spLocks noGrp="1"/>
          </p:cNvSpPr>
          <p:nvPr>
            <p:ph type="dt" idx="1"/>
          </p:nvPr>
        </p:nvSpPr>
        <p:spPr>
          <a:xfrm>
            <a:off x="503280" y="5165280"/>
            <a:ext cx="2324160" cy="366840"/>
          </a:xfrm>
          <a:prstGeom prst="rect">
            <a:avLst/>
          </a:prstGeom>
          <a:noFill/>
          <a:ln w="0">
            <a:noFill/>
          </a:ln>
        </p:spPr>
        <p:txBody>
          <a:bodyPr lIns="0" tIns="0" rIns="0" bIns="0" anchor="t">
            <a:noAutofit/>
          </a:bodyPr>
          <a:lstStyle>
            <a:lvl1pPr indent="0" algn="l">
              <a:lnSpc>
                <a:spcPct val="93000"/>
              </a:lnSpc>
              <a:spcBef>
                <a:spcPts val="187"/>
              </a:spcBef>
              <a:spcAft>
                <a:spcPts val="187"/>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defRPr lang="es-ES" sz="1400" b="0" u="none" strike="noStrike">
                <a:solidFill>
                  <a:srgbClr val="000000"/>
                </a:solidFill>
                <a:effectLst/>
                <a:uFillTx/>
                <a:latin typeface="Times New Roman"/>
                <a:ea typeface="Segoe UI"/>
              </a:defRPr>
            </a:lvl1pPr>
          </a:lstStyle>
          <a:p>
            <a:pPr indent="0" algn="l">
              <a:lnSpc>
                <a:spcPct val="93000"/>
              </a:lnSpc>
              <a:spcBef>
                <a:spcPts val="187"/>
              </a:spcBef>
              <a:spcAft>
                <a:spcPts val="187"/>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400" b="0" u="none" strike="noStrike">
                <a:solidFill>
                  <a:srgbClr val="000000"/>
                </a:solidFill>
                <a:effectLst/>
                <a:uFillTx/>
                <a:latin typeface="Times New Roman"/>
                <a:ea typeface="Segoe UI"/>
              </a:rPr>
              <a:t>&lt;fecha/hora&gt;</a:t>
            </a:r>
            <a:endParaRPr lang="es-ES" sz="1400" b="0" u="none" strike="noStrike">
              <a:solidFill>
                <a:srgbClr val="000000"/>
              </a:solidFill>
              <a:effectLst/>
              <a:uFillTx/>
              <a:latin typeface="Arial"/>
            </a:endParaRPr>
          </a:p>
        </p:txBody>
      </p:sp>
      <p:sp>
        <p:nvSpPr>
          <p:cNvPr id="5" name="PlaceHolder 4"/>
          <p:cNvSpPr>
            <a:spLocks noGrp="1"/>
          </p:cNvSpPr>
          <p:nvPr>
            <p:ph type="ftr" idx="2"/>
          </p:nvPr>
        </p:nvSpPr>
        <p:spPr>
          <a:xfrm>
            <a:off x="3447720" y="5165280"/>
            <a:ext cx="3171960" cy="366840"/>
          </a:xfrm>
          <a:prstGeom prst="rect">
            <a:avLst/>
          </a:prstGeom>
          <a:noFill/>
          <a:ln w="0">
            <a:noFill/>
          </a:ln>
        </p:spPr>
        <p:txBody>
          <a:bodyPr lIns="0" tIns="0" rIns="0" bIns="0" anchor="t">
            <a:noAutofit/>
          </a:bodyPr>
          <a:lstStyle>
            <a:lvl1pPr indent="0" algn="ctr">
              <a:lnSpc>
                <a:spcPct val="93000"/>
              </a:lnSpc>
              <a:spcBef>
                <a:spcPts val="187"/>
              </a:spcBef>
              <a:spcAft>
                <a:spcPts val="187"/>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defRPr lang="es-ES" sz="1400" b="0" u="none" strike="noStrike">
                <a:solidFill>
                  <a:srgbClr val="000000"/>
                </a:solidFill>
                <a:effectLst/>
                <a:uFillTx/>
                <a:latin typeface="Times New Roman"/>
                <a:ea typeface="Segoe UI"/>
              </a:defRPr>
            </a:lvl1pPr>
          </a:lstStyle>
          <a:p>
            <a:pPr indent="0" algn="ctr">
              <a:lnSpc>
                <a:spcPct val="93000"/>
              </a:lnSpc>
              <a:spcBef>
                <a:spcPts val="187"/>
              </a:spcBef>
              <a:spcAft>
                <a:spcPts val="187"/>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400" b="0" u="none" strike="noStrike">
                <a:solidFill>
                  <a:srgbClr val="000000"/>
                </a:solidFill>
                <a:effectLst/>
                <a:uFillTx/>
                <a:latin typeface="Times New Roman"/>
                <a:ea typeface="Segoe UI"/>
              </a:rPr>
              <a:t>&lt;pie de página&gt;</a:t>
            </a:r>
            <a:endParaRPr lang="es-ES" sz="1400" b="0" u="none" strike="noStrike">
              <a:solidFill>
                <a:srgbClr val="000000"/>
              </a:solidFill>
              <a:effectLst/>
              <a:uFillTx/>
              <a:latin typeface="Arial"/>
            </a:endParaRPr>
          </a:p>
        </p:txBody>
      </p:sp>
      <p:sp>
        <p:nvSpPr>
          <p:cNvPr id="6" name="PlaceHolder 5"/>
          <p:cNvSpPr>
            <a:spLocks noGrp="1"/>
          </p:cNvSpPr>
          <p:nvPr>
            <p:ph type="sldNum" idx="3"/>
          </p:nvPr>
        </p:nvSpPr>
        <p:spPr>
          <a:xfrm>
            <a:off x="7227720" y="5165280"/>
            <a:ext cx="2324160" cy="366840"/>
          </a:xfrm>
          <a:prstGeom prst="rect">
            <a:avLst/>
          </a:prstGeom>
          <a:noFill/>
          <a:ln w="0">
            <a:noFill/>
          </a:ln>
        </p:spPr>
        <p:txBody>
          <a:bodyPr lIns="0" tIns="0" rIns="0" bIns="0" anchor="t">
            <a:noAutofit/>
          </a:bodyPr>
          <a:lstStyle>
            <a:lvl1pPr indent="0" algn="r">
              <a:lnSpc>
                <a:spcPct val="93000"/>
              </a:lnSpc>
              <a:spcBef>
                <a:spcPts val="187"/>
              </a:spcBef>
              <a:spcAft>
                <a:spcPts val="187"/>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defRPr lang="es-ES" sz="1400" b="0" u="none" strike="noStrike">
                <a:solidFill>
                  <a:srgbClr val="000000"/>
                </a:solidFill>
                <a:effectLst/>
                <a:uFillTx/>
                <a:latin typeface="Times New Roman"/>
                <a:ea typeface="Segoe UI"/>
              </a:defRPr>
            </a:lvl1pPr>
          </a:lstStyle>
          <a:p>
            <a:pPr indent="0" algn="r">
              <a:lnSpc>
                <a:spcPct val="93000"/>
              </a:lnSpc>
              <a:spcBef>
                <a:spcPts val="187"/>
              </a:spcBef>
              <a:spcAft>
                <a:spcPts val="187"/>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fld id="{E8223A27-065C-4085-8685-02A0424D014F}" type="slidenum">
              <a:rPr lang="es-ES" sz="1400" b="0" u="none" strike="noStrike">
                <a:solidFill>
                  <a:srgbClr val="000000"/>
                </a:solidFill>
                <a:effectLst/>
                <a:uFillTx/>
                <a:latin typeface="Times New Roman"/>
                <a:ea typeface="Segoe UI"/>
              </a:rPr>
              <a:t>&lt;número&gt;</a:t>
            </a:fld>
            <a:endParaRPr lang="es-ES" sz="14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5.png"/><Relationship Id="rId3"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6.png"/><Relationship Id="rId3"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7.png"/><Relationship Id="rId3"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8.png"/><Relationship Id="rId3"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5.png"/><Relationship Id="rId3"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6.png"/><Relationship Id="rId3"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slideLayout" Target="../slideLayouts/slideLayout2.xml"/>
</Relationships>
</file>

<file path=ppt/slides/_rels/slide1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slideLayout" Target="../slideLayouts/slideLayout2.xml"/>
</Relationships>
</file>

<file path=ppt/slides/_rels/slide2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slideLayout" Target="../slideLayouts/slideLayout2.xml"/>
</Relationships>
</file>

<file path=ppt/slides/_rels/slide2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5.png"/><Relationship Id="rId3" Type="http://schemas.openxmlformats.org/officeDocument/2006/relationships/slideLayout" Target="../slideLayouts/slideLayout2.xml"/>
</Relationships>
</file>

<file path=ppt/slides/_rels/slide2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slideLayout" Target="../slideLayouts/slideLayout2.xml"/>
</Relationships>
</file>

<file path=ppt/slides/_rels/slide2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slideLayout" Target="../slideLayouts/slideLayout2.xml"/>
</Relationships>
</file>

<file path=ppt/slides/_rels/slide2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slideLayout" Target="../slideLayouts/slideLayout2.xml"/>
</Relationships>
</file>

<file path=ppt/slides/_rels/slide2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
</Relationships>
</file>

<file path=ppt/slides/_rels/slide2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slideLayout" Target="../slideLayouts/slideLayout2.xml"/>
</Relationships>
</file>

<file path=ppt/slides/_rels/slide2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slideLayout" Target="../slideLayouts/slideLayout2.xml"/>
</Relationships>
</file>

<file path=ppt/slides/_rels/slide2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slideLayout" Target="../slideLayouts/slideLayout2.xml"/>
</Relationships>
</file>

<file path=ppt/slides/_rels/slide2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slideLayout" Target="../slideLayouts/slideLayout2.xml"/>
</Relationships>
</file>

<file path=ppt/slides/_rels/slide3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3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3.png"/><Relationship Id="rId3" Type="http://schemas.openxmlformats.org/officeDocument/2006/relationships/slideLayout" Target="../slideLayouts/slideLayout2.xml"/>
</Relationships>
</file>

<file path=ppt/slides/_rels/slide3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 name=""/>
          <p:cNvPicPr/>
          <p:nvPr/>
        </p:nvPicPr>
        <p:blipFill>
          <a:blip r:embed="rId1"/>
          <a:stretch/>
        </p:blipFill>
        <p:spPr>
          <a:xfrm>
            <a:off x="106200" y="77760"/>
            <a:ext cx="9974520" cy="5591160"/>
          </a:xfrm>
          <a:prstGeom prst="rect">
            <a:avLst/>
          </a:prstGeom>
          <a:noFill/>
          <a:ln w="0">
            <a:noFill/>
          </a:ln>
        </p:spPr>
      </p:pic>
      <p:sp>
        <p:nvSpPr>
          <p:cNvPr id="12" name=""/>
          <p:cNvSpPr/>
          <p:nvPr/>
        </p:nvSpPr>
        <p:spPr>
          <a:xfrm>
            <a:off x="3240000" y="189000"/>
            <a:ext cx="5977080" cy="2690640"/>
          </a:xfrm>
          <a:prstGeom prst="rect">
            <a:avLst/>
          </a:prstGeom>
          <a:solidFill>
            <a:srgbClr val="FFFFFF"/>
          </a:solidFill>
          <a:ln w="9360">
            <a:solidFill>
              <a:srgbClr val="3465A4"/>
            </a:solidFill>
            <a:round/>
          </a:ln>
          <a:effectLst>
            <a:outerShdw dist="101823" dir="2700000" rotWithShape="0">
              <a:srgbClr val="5983B0"/>
            </a:outerShdw>
          </a:effectLst>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500" b="1" u="none" strike="noStrike">
                <a:solidFill>
                  <a:srgbClr val="626B75"/>
                </a:solidFill>
                <a:effectLst/>
                <a:uFillTx/>
                <a:latin typeface="Bahnschrift Light:case=1"/>
              </a:rPr>
              <a:t>¿Podemos Predecir la Satisfacción con la Vida? </a:t>
            </a:r>
            <a:endParaRPr lang="es-ES" sz="2500" b="0" u="none" strike="noStrike">
              <a:solidFill>
                <a:srgbClr val="000000"/>
              </a:solidFill>
              <a:effectLst/>
              <a:uFillTx/>
              <a:latin typeface="Arial"/>
            </a:endParaRPr>
          </a:p>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500" b="1" u="none" strike="noStrike">
                <a:solidFill>
                  <a:srgbClr val="626B75"/>
                </a:solidFill>
                <a:effectLst/>
                <a:uFillTx/>
                <a:latin typeface="Bahnschrift Light:case=1"/>
              </a:rPr>
              <a:t>Aplicación de Técnicas de Machine Learning a Datos de Bienestar Personal de Euskadi</a:t>
            </a:r>
            <a:endParaRPr lang="es-ES" sz="2500" b="0" u="none" strike="noStrike">
              <a:solidFill>
                <a:srgbClr val="000000"/>
              </a:solidFill>
              <a:effectLst/>
              <a:uFillTx/>
              <a:latin typeface="Arial"/>
            </a:endParaRPr>
          </a:p>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500" b="1" i="1" u="none" strike="noStrike">
                <a:solidFill>
                  <a:srgbClr val="626B75"/>
                </a:solidFill>
                <a:effectLst/>
                <a:uFillTx/>
                <a:latin typeface="Bahnschrift Light:case=1"/>
              </a:rPr>
              <a:t>Presentación Técnica                                                    15/06/2026</a:t>
            </a:r>
            <a:endParaRPr lang="es-ES" sz="1500" b="0" u="none" strike="noStrike">
              <a:solidFill>
                <a:srgbClr val="000000"/>
              </a:solidFill>
              <a:effectLst/>
              <a:uFillTx/>
              <a:latin typeface="Arial"/>
            </a:endParaRPr>
          </a:p>
        </p:txBody>
      </p:sp>
    </p:spTree>
  </p:cSld>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 name=""/>
          <p:cNvPicPr/>
          <p:nvPr/>
        </p:nvPicPr>
        <p:blipFill>
          <a:blip r:embed="rId1"/>
          <a:stretch/>
        </p:blipFill>
        <p:spPr>
          <a:xfrm>
            <a:off x="179280" y="147600"/>
            <a:ext cx="9720360" cy="5443560"/>
          </a:xfrm>
          <a:prstGeom prst="rect">
            <a:avLst/>
          </a:prstGeom>
          <a:noFill/>
          <a:ln w="0">
            <a:noFill/>
          </a:ln>
        </p:spPr>
      </p:pic>
      <p:sp>
        <p:nvSpPr>
          <p:cNvPr id="14"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1. Objetivo del Proyecto</a:t>
            </a:r>
            <a:endParaRPr lang="es-ES" sz="2400" b="0" u="none" strike="noStrike">
              <a:solidFill>
                <a:srgbClr val="000000"/>
              </a:solidFill>
              <a:effectLst/>
              <a:uFillTx/>
              <a:latin typeface="Arial"/>
            </a:endParaRPr>
          </a:p>
        </p:txBody>
      </p:sp>
      <p:sp>
        <p:nvSpPr>
          <p:cNvPr id="15"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16" name=""/>
          <p:cNvSpPr/>
          <p:nvPr/>
        </p:nvSpPr>
        <p:spPr>
          <a:xfrm>
            <a:off x="971640" y="900000"/>
            <a:ext cx="8101080" cy="1043280"/>
          </a:xfrm>
          <a:prstGeom prst="rect">
            <a:avLst/>
          </a:prstGeom>
          <a:gradFill rotWithShape="0">
            <a:gsLst>
              <a:gs pos="0">
                <a:srgbClr val="B4C7DC"/>
              </a:gs>
              <a:gs pos="100000">
                <a:srgbClr val="FFFFFF"/>
              </a:gs>
            </a:gsLst>
            <a:path path="rect">
              <a:fillToRect l="50000" t="50000" r="50000" b="50000"/>
            </a:path>
          </a:gradFill>
          <a:ln w="9360">
            <a:solidFill>
              <a:srgbClr val="3465A4"/>
            </a:solidFill>
            <a:round/>
          </a:ln>
          <a:effectLst>
            <a:outerShdw dist="101823" dir="2700000" rotWithShape="0">
              <a:srgbClr val="808080"/>
            </a:outerShdw>
          </a:effectLst>
        </p:spPr>
        <p:style>
          <a:lnRef idx="0"/>
          <a:fillRef idx="0"/>
          <a:effectRef idx="0"/>
          <a:fontRef idx="minor"/>
        </p:style>
        <p:txBody>
          <a:bodyPr lIns="90000" tIns="45000" rIns="90000" bIns="45000" anchor="ctr">
            <a:noAutofit/>
          </a:bodyPr>
          <a:p>
            <a:pPr marL="360360">
              <a:lnSpc>
                <a:spcPct val="115000"/>
              </a:lnSpc>
              <a:spcBef>
                <a:spcPts val="1287"/>
              </a:spcBef>
              <a:spcAft>
                <a:spcPts val="1089"/>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200" b="1" u="none" strike="noStrike">
                <a:solidFill>
                  <a:srgbClr val="000000"/>
                </a:solidFill>
                <a:effectLst/>
                <a:uFillTx/>
                <a:latin typeface="Bahnschrift SemiLight"/>
              </a:rPr>
              <a:t>Analizar los factores que influyen en la satisfacción con la vida de las personas residentes en Euskadi, y construir un modelo capaz de predecir el nivel de satisfacción vital a partir de variables sociodemográficas, económicas y de bienestar personal. </a:t>
            </a:r>
            <a:endParaRPr lang="es-ES" sz="1200" b="0" u="none" strike="noStrike">
              <a:solidFill>
                <a:srgbClr val="000000"/>
              </a:solidFill>
              <a:effectLst/>
              <a:uFillTx/>
              <a:latin typeface="Arial"/>
            </a:endParaRPr>
          </a:p>
        </p:txBody>
      </p:sp>
      <p:pic>
        <p:nvPicPr>
          <p:cNvPr id="17" name=""/>
          <p:cNvPicPr/>
          <p:nvPr/>
        </p:nvPicPr>
        <p:blipFill>
          <a:blip r:embed="rId2"/>
          <a:stretch/>
        </p:blipFill>
        <p:spPr>
          <a:xfrm>
            <a:off x="6084720" y="3368520"/>
            <a:ext cx="2567160" cy="1711440"/>
          </a:xfrm>
          <a:prstGeom prst="rect">
            <a:avLst/>
          </a:prstGeom>
          <a:noFill/>
          <a:ln w="9360">
            <a:solidFill>
              <a:srgbClr val="3465A4"/>
            </a:solidFill>
            <a:round/>
          </a:ln>
        </p:spPr>
      </p:pic>
      <p:sp>
        <p:nvSpPr>
          <p:cNvPr id="18" name=""/>
          <p:cNvSpPr/>
          <p:nvPr/>
        </p:nvSpPr>
        <p:spPr>
          <a:xfrm>
            <a:off x="1035000" y="3111480"/>
            <a:ext cx="1800360" cy="161928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115000"/>
              </a:lnSpc>
              <a:spcBef>
                <a:spcPts val="1287"/>
              </a:spcBef>
              <a:spcAft>
                <a:spcPts val="1089"/>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200" b="0" u="none" strike="noStrike">
                <a:solidFill>
                  <a:srgbClr val="FFFFFF"/>
                </a:solidFill>
                <a:effectLst/>
                <a:uFillTx/>
                <a:latin typeface="Bahnschrift SemiLight"/>
              </a:rPr>
              <a:t> Objetivo Explicativo:  "Identificar qué factores están más asociados a la satisfacción vital"</a:t>
            </a:r>
            <a:endParaRPr lang="es-ES" sz="1200" b="0" u="none" strike="noStrike">
              <a:solidFill>
                <a:srgbClr val="000000"/>
              </a:solidFill>
              <a:effectLst/>
              <a:uFillTx/>
              <a:latin typeface="Arial"/>
            </a:endParaRPr>
          </a:p>
        </p:txBody>
      </p:sp>
      <p:sp>
        <p:nvSpPr>
          <p:cNvPr id="19" name=""/>
          <p:cNvSpPr/>
          <p:nvPr/>
        </p:nvSpPr>
        <p:spPr>
          <a:xfrm>
            <a:off x="3051000" y="3111480"/>
            <a:ext cx="1979640" cy="161928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115000"/>
              </a:lnSpc>
              <a:spcBef>
                <a:spcPts val="1287"/>
              </a:spcBef>
              <a:spcAft>
                <a:spcPts val="1089"/>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200" b="0" u="none" strike="noStrike">
                <a:solidFill>
                  <a:srgbClr val="FFFFFF"/>
                </a:solidFill>
                <a:effectLst/>
                <a:uFillTx/>
                <a:latin typeface="Bahnschrift SemiLight"/>
              </a:rPr>
              <a:t>y un Objetivo Predictivo: "Construir el mejor modelo posible para predecir el estado de bienestar personal"</a:t>
            </a:r>
            <a:endParaRPr lang="es-ES" sz="1200" b="0" u="none" strike="noStrike">
              <a:solidFill>
                <a:srgbClr val="000000"/>
              </a:solidFill>
              <a:effectLst/>
              <a:uFillTx/>
              <a:latin typeface="Arial"/>
            </a:endParaRPr>
          </a:p>
        </p:txBody>
      </p:sp>
      <p:sp>
        <p:nvSpPr>
          <p:cNvPr id="20" name=""/>
          <p:cNvSpPr/>
          <p:nvPr/>
        </p:nvSpPr>
        <p:spPr>
          <a:xfrm>
            <a:off x="1035000" y="2297160"/>
            <a:ext cx="4005360" cy="63036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287"/>
              </a:spcBef>
              <a:spcAft>
                <a:spcPts val="1089"/>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300" b="0" u="none" strike="noStrike">
                <a:solidFill>
                  <a:srgbClr val="FFFFFF"/>
                </a:solidFill>
                <a:effectLst/>
                <a:uFillTx/>
                <a:latin typeface="Bahnschrift SemiLight"/>
              </a:rPr>
              <a:t> Doble Objetivo: </a:t>
            </a:r>
            <a:endParaRPr lang="es-ES" sz="1300" b="0" u="none" strike="noStrike">
              <a:solidFill>
                <a:srgbClr val="000000"/>
              </a:solidFill>
              <a:effectLst/>
              <a:uFillTx/>
              <a:latin typeface="Arial"/>
            </a:endParaRPr>
          </a:p>
        </p:txBody>
      </p:sp>
      <p:pic>
        <p:nvPicPr>
          <p:cNvPr id="21" name=""/>
          <p:cNvPicPr/>
          <p:nvPr/>
        </p:nvPicPr>
        <p:blipFill>
          <a:blip r:embed="rId3"/>
          <a:srcRect l="0" t="15055" r="0" b="9555"/>
          <a:stretch/>
        </p:blipFill>
        <p:spPr>
          <a:xfrm>
            <a:off x="5375160" y="2133720"/>
            <a:ext cx="1800360" cy="900000"/>
          </a:xfrm>
          <a:prstGeom prst="rect">
            <a:avLst/>
          </a:prstGeom>
          <a:noFill/>
          <a:ln w="9360">
            <a:solidFill>
              <a:srgbClr val="355269"/>
            </a:solidFill>
            <a:round/>
          </a:ln>
        </p:spPr>
      </p:pic>
      <p:sp>
        <p:nvSpPr>
          <p:cNvPr id="22" name=""/>
          <p:cNvSpPr/>
          <p:nvPr/>
        </p:nvSpPr>
        <p:spPr>
          <a:xfrm>
            <a:off x="7059600" y="2225520"/>
            <a:ext cx="2479680" cy="1374840"/>
          </a:xfrm>
          <a:prstGeom prst="rect">
            <a:avLst/>
          </a:prstGeom>
          <a:gradFill rotWithShape="0">
            <a:gsLst>
              <a:gs pos="0">
                <a:srgbClr val="FFFFFF"/>
              </a:gs>
              <a:gs pos="50000">
                <a:srgbClr val="B4C7DC"/>
              </a:gs>
              <a:gs pos="100000">
                <a:srgbClr val="FFFFFF"/>
              </a:gs>
            </a:gsLst>
            <a:lin ang="3600000"/>
          </a:gradFill>
          <a:ln w="9360">
            <a:solidFill>
              <a:srgbClr val="3465A4"/>
            </a:solidFill>
            <a:round/>
          </a:ln>
        </p:spPr>
        <p:style>
          <a:lnRef idx="0"/>
          <a:fillRef idx="0"/>
          <a:effectRef idx="0"/>
          <a:fontRef idx="minor"/>
        </p:style>
        <p:txBody>
          <a:bodyPr lIns="90000" tIns="45000" rIns="90000" bIns="45000" anchor="ctr">
            <a:noAutofit/>
          </a:bodyPr>
          <a:p>
            <a:pPr algn="just">
              <a:lnSpc>
                <a:spcPct val="150000"/>
              </a:lnSpc>
              <a:spcBef>
                <a:spcPts val="51"/>
              </a:spcBef>
              <a:spcAft>
                <a:spcPts val="5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200" b="1" i="1" u="none" strike="noStrike">
                <a:solidFill>
                  <a:srgbClr val="000000"/>
                </a:solidFill>
                <a:effectLst/>
                <a:uFillTx/>
                <a:latin typeface="Bahnschrift Light"/>
              </a:rPr>
              <a:t>FUENTE: </a:t>
            </a:r>
            <a:endParaRPr lang="es-ES" sz="1200" b="0" u="none" strike="noStrike">
              <a:solidFill>
                <a:srgbClr val="000000"/>
              </a:solidFill>
              <a:effectLst/>
              <a:uFillTx/>
              <a:latin typeface="Arial"/>
            </a:endParaRPr>
          </a:p>
          <a:p>
            <a:pPr algn="just">
              <a:lnSpc>
                <a:spcPct val="150000"/>
              </a:lnSpc>
              <a:spcBef>
                <a:spcPts val="901"/>
              </a:spcBef>
              <a:spcAft>
                <a:spcPts val="90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200" b="1" u="none" strike="noStrike">
                <a:solidFill>
                  <a:srgbClr val="000000"/>
                </a:solidFill>
                <a:effectLst/>
                <a:uFillTx/>
                <a:latin typeface="Bahnschrift Light"/>
              </a:rPr>
              <a:t>FICHERO DE MICRODATOS DE LA ENCUESTA DE BIENESTAR PERSONAL DE EUSKADI, 2024</a:t>
            </a:r>
            <a:endParaRPr lang="es-ES" sz="1200" b="0" u="none" strike="noStrike">
              <a:solidFill>
                <a:srgbClr val="000000"/>
              </a:solidFill>
              <a:effectLst/>
              <a:uFillTx/>
              <a:latin typeface="Arial"/>
            </a:endParaRPr>
          </a:p>
        </p:txBody>
      </p:sp>
    </p:spTree>
  </p:cSld>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3" name=""/>
          <p:cNvPicPr/>
          <p:nvPr/>
        </p:nvPicPr>
        <p:blipFill>
          <a:blip r:embed="rId1"/>
          <a:stretch/>
        </p:blipFill>
        <p:spPr>
          <a:xfrm>
            <a:off x="179280" y="147600"/>
            <a:ext cx="9720360" cy="5443560"/>
          </a:xfrm>
          <a:prstGeom prst="rect">
            <a:avLst/>
          </a:prstGeom>
          <a:noFill/>
          <a:ln w="0">
            <a:noFill/>
          </a:ln>
        </p:spPr>
      </p:pic>
      <p:sp>
        <p:nvSpPr>
          <p:cNvPr id="24"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SemiLight"/>
              </a:rPr>
              <a:t>2. Fases del Proyecto</a:t>
            </a:r>
            <a:endParaRPr lang="es-ES" sz="2400" b="0" u="none" strike="noStrike">
              <a:solidFill>
                <a:srgbClr val="000000"/>
              </a:solidFill>
              <a:effectLst/>
              <a:uFillTx/>
              <a:latin typeface="Arial"/>
            </a:endParaRPr>
          </a:p>
        </p:txBody>
      </p:sp>
      <p:sp>
        <p:nvSpPr>
          <p:cNvPr id="25" name=""/>
          <p:cNvSpPr/>
          <p:nvPr/>
        </p:nvSpPr>
        <p:spPr>
          <a:xfrm>
            <a:off x="181080" y="5275440"/>
            <a:ext cx="8280360" cy="23148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26" name=""/>
          <p:cNvSpPr/>
          <p:nvPr/>
        </p:nvSpPr>
        <p:spPr>
          <a:xfrm>
            <a:off x="557280" y="1079640"/>
            <a:ext cx="1800000" cy="161928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gn="ct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ANÁLISIS DATASET ORIGINAL</a:t>
            </a:r>
            <a:endParaRPr lang="es-ES" sz="1800" b="0" u="none" strike="noStrike">
              <a:solidFill>
                <a:srgbClr val="000000"/>
              </a:solidFill>
              <a:effectLst/>
              <a:uFillTx/>
              <a:latin typeface="Arial"/>
            </a:endParaRPr>
          </a:p>
        </p:txBody>
      </p:sp>
      <p:sp>
        <p:nvSpPr>
          <p:cNvPr id="27" name=""/>
          <p:cNvSpPr/>
          <p:nvPr/>
        </p:nvSpPr>
        <p:spPr>
          <a:xfrm>
            <a:off x="2679840" y="1079640"/>
            <a:ext cx="1979640" cy="161928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gn="ct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LIMPIEZA Y PREPARACIÓN DE DATOS</a:t>
            </a:r>
            <a:endParaRPr lang="es-ES" sz="1800" b="0" u="none" strike="noStrike">
              <a:solidFill>
                <a:srgbClr val="000000"/>
              </a:solidFill>
              <a:effectLst/>
              <a:uFillTx/>
              <a:latin typeface="Arial"/>
            </a:endParaRPr>
          </a:p>
        </p:txBody>
      </p:sp>
      <p:sp>
        <p:nvSpPr>
          <p:cNvPr id="28" name=""/>
          <p:cNvSpPr/>
          <p:nvPr/>
        </p:nvSpPr>
        <p:spPr>
          <a:xfrm>
            <a:off x="4981680" y="1079640"/>
            <a:ext cx="1979640" cy="161928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gn="ct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SELECCIÓN DE VARIABLES PARA MODELO</a:t>
            </a:r>
            <a:endParaRPr lang="es-ES" sz="1800" b="0" u="none" strike="noStrike">
              <a:solidFill>
                <a:srgbClr val="000000"/>
              </a:solidFill>
              <a:effectLst/>
              <a:uFillTx/>
              <a:latin typeface="Arial"/>
            </a:endParaRPr>
          </a:p>
        </p:txBody>
      </p:sp>
      <p:sp>
        <p:nvSpPr>
          <p:cNvPr id="29" name=""/>
          <p:cNvSpPr/>
          <p:nvPr/>
        </p:nvSpPr>
        <p:spPr>
          <a:xfrm>
            <a:off x="7283520" y="1079640"/>
            <a:ext cx="2257200" cy="161928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gn="ct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ENTRENAMIENTO DE  MODELOS</a:t>
            </a:r>
            <a:endParaRPr lang="es-ES" sz="1800" b="0" u="none" strike="noStrike">
              <a:solidFill>
                <a:srgbClr val="000000"/>
              </a:solidFill>
              <a:effectLst/>
              <a:uFillTx/>
              <a:latin typeface="Arial"/>
            </a:endParaRPr>
          </a:p>
        </p:txBody>
      </p:sp>
      <p:sp>
        <p:nvSpPr>
          <p:cNvPr id="30" name=""/>
          <p:cNvSpPr/>
          <p:nvPr/>
        </p:nvSpPr>
        <p:spPr>
          <a:xfrm>
            <a:off x="544680" y="3086280"/>
            <a:ext cx="1979280" cy="161892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gn="ct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EVALUACIÓN DE  RESULTADOS</a:t>
            </a:r>
            <a:endParaRPr lang="es-ES" sz="1800" b="0" u="none" strike="noStrike">
              <a:solidFill>
                <a:srgbClr val="000000"/>
              </a:solidFill>
              <a:effectLst/>
              <a:uFillTx/>
              <a:latin typeface="Arial"/>
            </a:endParaRPr>
          </a:p>
        </p:txBody>
      </p:sp>
      <p:sp>
        <p:nvSpPr>
          <p:cNvPr id="31" name=""/>
          <p:cNvSpPr/>
          <p:nvPr/>
        </p:nvSpPr>
        <p:spPr>
          <a:xfrm>
            <a:off x="2733840" y="3086280"/>
            <a:ext cx="1979280" cy="161892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gn="ct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ELECCIÓN </a:t>
            </a:r>
            <a:br>
              <a:rPr sz="1800"/>
            </a:br>
            <a:r>
              <a:rPr lang="es-ES" sz="1800" b="0" u="none" strike="noStrike">
                <a:solidFill>
                  <a:srgbClr val="FFFFFF"/>
                </a:solidFill>
                <a:effectLst/>
                <a:uFillTx/>
                <a:latin typeface="Bahnschrift SemiLight"/>
              </a:rPr>
              <a:t>DEL MEJOR MODELO</a:t>
            </a:r>
            <a:endParaRPr lang="es-ES" sz="1800" b="0" u="none" strike="noStrike">
              <a:solidFill>
                <a:srgbClr val="000000"/>
              </a:solidFill>
              <a:effectLst/>
              <a:uFillTx/>
              <a:latin typeface="Arial"/>
            </a:endParaRPr>
          </a:p>
        </p:txBody>
      </p:sp>
      <p:sp>
        <p:nvSpPr>
          <p:cNvPr id="32" name=""/>
          <p:cNvSpPr/>
          <p:nvPr/>
        </p:nvSpPr>
        <p:spPr>
          <a:xfrm>
            <a:off x="4921200" y="3086280"/>
            <a:ext cx="2162160" cy="161892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gn="ct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INTERPRETACIÓN</a:t>
            </a:r>
            <a:br>
              <a:rPr sz="1800"/>
            </a:br>
            <a:r>
              <a:rPr lang="es-ES" sz="1800" b="0" u="none" strike="noStrike">
                <a:solidFill>
                  <a:srgbClr val="FFFFFF"/>
                </a:solidFill>
                <a:effectLst/>
                <a:uFillTx/>
                <a:latin typeface="Bahnschrift SemiLight"/>
              </a:rPr>
              <a:t> MODELO</a:t>
            </a:r>
            <a:endParaRPr lang="es-ES" sz="1800" b="0" u="none" strike="noStrike">
              <a:solidFill>
                <a:srgbClr val="000000"/>
              </a:solidFill>
              <a:effectLst/>
              <a:uFillTx/>
              <a:latin typeface="Arial"/>
            </a:endParaRPr>
          </a:p>
        </p:txBody>
      </p:sp>
      <p:sp>
        <p:nvSpPr>
          <p:cNvPr id="33" name=""/>
          <p:cNvSpPr/>
          <p:nvPr/>
        </p:nvSpPr>
        <p:spPr>
          <a:xfrm>
            <a:off x="7283520" y="3086280"/>
            <a:ext cx="2257200" cy="161892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gn="ct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DOCUMENTACIÓN Y PRESENTACIÓN DEL PROYECTO</a:t>
            </a:r>
            <a:endParaRPr lang="es-ES" sz="1800" b="0" u="none" strike="noStrike">
              <a:solidFill>
                <a:srgbClr val="000000"/>
              </a:solidFill>
              <a:effectLst/>
              <a:uFillTx/>
              <a:latin typeface="Arial"/>
            </a:endParaRPr>
          </a:p>
        </p:txBody>
      </p:sp>
      <p:sp>
        <p:nvSpPr>
          <p:cNvPr id="34" name=""/>
          <p:cNvSpPr/>
          <p:nvPr/>
        </p:nvSpPr>
        <p:spPr>
          <a:xfrm>
            <a:off x="2357280" y="1709640"/>
            <a:ext cx="322560" cy="360360"/>
          </a:xfrm>
          <a:prstGeom prst="rightArrow">
            <a:avLst>
              <a:gd name="adj1" fmla="val 50000"/>
              <a:gd name="adj2" fmla="val 25000"/>
            </a:avLst>
          </a:prstGeom>
          <a:solidFill>
            <a:srgbClr val="B4C7DC"/>
          </a:solidFill>
          <a:ln w="9360">
            <a:solidFill>
              <a:srgbClr val="3465A4"/>
            </a:solidFill>
            <a:round/>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
        <p:nvSpPr>
          <p:cNvPr id="35" name=""/>
          <p:cNvSpPr/>
          <p:nvPr/>
        </p:nvSpPr>
        <p:spPr>
          <a:xfrm>
            <a:off x="4646520" y="1709640"/>
            <a:ext cx="322200" cy="360360"/>
          </a:xfrm>
          <a:prstGeom prst="rightArrow">
            <a:avLst>
              <a:gd name="adj1" fmla="val 50000"/>
              <a:gd name="adj2" fmla="val 25000"/>
            </a:avLst>
          </a:prstGeom>
          <a:solidFill>
            <a:srgbClr val="B4C7DC"/>
          </a:solidFill>
          <a:ln w="9360">
            <a:solidFill>
              <a:srgbClr val="3465A4"/>
            </a:solidFill>
            <a:round/>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
        <p:nvSpPr>
          <p:cNvPr id="36" name=""/>
          <p:cNvSpPr/>
          <p:nvPr/>
        </p:nvSpPr>
        <p:spPr>
          <a:xfrm>
            <a:off x="6950160" y="1709640"/>
            <a:ext cx="322200" cy="360360"/>
          </a:xfrm>
          <a:prstGeom prst="rightArrow">
            <a:avLst>
              <a:gd name="adj1" fmla="val 50000"/>
              <a:gd name="adj2" fmla="val 25000"/>
            </a:avLst>
          </a:prstGeom>
          <a:solidFill>
            <a:srgbClr val="B4C7DC"/>
          </a:solidFill>
          <a:ln w="9360">
            <a:solidFill>
              <a:srgbClr val="3465A4"/>
            </a:solidFill>
            <a:round/>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
        <p:nvSpPr>
          <p:cNvPr id="37" name=""/>
          <p:cNvSpPr/>
          <p:nvPr/>
        </p:nvSpPr>
        <p:spPr>
          <a:xfrm>
            <a:off x="2470320" y="3716280"/>
            <a:ext cx="322200" cy="360360"/>
          </a:xfrm>
          <a:prstGeom prst="rightArrow">
            <a:avLst>
              <a:gd name="adj1" fmla="val 50000"/>
              <a:gd name="adj2" fmla="val 25000"/>
            </a:avLst>
          </a:prstGeom>
          <a:solidFill>
            <a:srgbClr val="B4C7DC"/>
          </a:solidFill>
          <a:ln w="9360">
            <a:solidFill>
              <a:srgbClr val="3465A4"/>
            </a:solidFill>
            <a:round/>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
        <p:nvSpPr>
          <p:cNvPr id="38" name=""/>
          <p:cNvSpPr/>
          <p:nvPr/>
        </p:nvSpPr>
        <p:spPr>
          <a:xfrm>
            <a:off x="2470320" y="3716280"/>
            <a:ext cx="322200" cy="360360"/>
          </a:xfrm>
          <a:prstGeom prst="rightArrow">
            <a:avLst>
              <a:gd name="adj1" fmla="val 50000"/>
              <a:gd name="adj2" fmla="val 25000"/>
            </a:avLst>
          </a:prstGeom>
          <a:solidFill>
            <a:srgbClr val="B4C7DC"/>
          </a:solidFill>
          <a:ln w="9360">
            <a:solidFill>
              <a:srgbClr val="3465A4"/>
            </a:solidFill>
            <a:round/>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
        <p:nvSpPr>
          <p:cNvPr id="39" name=""/>
          <p:cNvSpPr/>
          <p:nvPr/>
        </p:nvSpPr>
        <p:spPr>
          <a:xfrm>
            <a:off x="4716360" y="3716280"/>
            <a:ext cx="322200" cy="360360"/>
          </a:xfrm>
          <a:prstGeom prst="rightArrow">
            <a:avLst>
              <a:gd name="adj1" fmla="val 50000"/>
              <a:gd name="adj2" fmla="val 25000"/>
            </a:avLst>
          </a:prstGeom>
          <a:solidFill>
            <a:srgbClr val="B4C7DC"/>
          </a:solidFill>
          <a:ln w="9360">
            <a:solidFill>
              <a:srgbClr val="3465A4"/>
            </a:solidFill>
            <a:round/>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
        <p:nvSpPr>
          <p:cNvPr id="40" name=""/>
          <p:cNvSpPr/>
          <p:nvPr/>
        </p:nvSpPr>
        <p:spPr>
          <a:xfrm>
            <a:off x="4716360" y="3716280"/>
            <a:ext cx="322200" cy="360360"/>
          </a:xfrm>
          <a:prstGeom prst="rightArrow">
            <a:avLst>
              <a:gd name="adj1" fmla="val 50000"/>
              <a:gd name="adj2" fmla="val 25000"/>
            </a:avLst>
          </a:prstGeom>
          <a:solidFill>
            <a:srgbClr val="B4C7DC"/>
          </a:solidFill>
          <a:ln w="9360">
            <a:solidFill>
              <a:srgbClr val="3465A4"/>
            </a:solidFill>
            <a:round/>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
        <p:nvSpPr>
          <p:cNvPr id="41" name=""/>
          <p:cNvSpPr/>
          <p:nvPr/>
        </p:nvSpPr>
        <p:spPr>
          <a:xfrm>
            <a:off x="6961320" y="3716280"/>
            <a:ext cx="322200" cy="360360"/>
          </a:xfrm>
          <a:prstGeom prst="rightArrow">
            <a:avLst>
              <a:gd name="adj1" fmla="val 50000"/>
              <a:gd name="adj2" fmla="val 25000"/>
            </a:avLst>
          </a:prstGeom>
          <a:solidFill>
            <a:srgbClr val="B4C7DC"/>
          </a:solidFill>
          <a:ln w="9360">
            <a:solidFill>
              <a:srgbClr val="3465A4"/>
            </a:solidFill>
            <a:round/>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
        <p:nvSpPr>
          <p:cNvPr id="42" name=""/>
          <p:cNvSpPr/>
          <p:nvPr/>
        </p:nvSpPr>
        <p:spPr>
          <a:xfrm>
            <a:off x="6961320" y="3716280"/>
            <a:ext cx="322200" cy="360360"/>
          </a:xfrm>
          <a:prstGeom prst="rightArrow">
            <a:avLst>
              <a:gd name="adj1" fmla="val 50000"/>
              <a:gd name="adj2" fmla="val 25000"/>
            </a:avLst>
          </a:prstGeom>
          <a:solidFill>
            <a:srgbClr val="B4C7DC"/>
          </a:solidFill>
          <a:ln w="9360">
            <a:solidFill>
              <a:srgbClr val="3465A4"/>
            </a:solidFill>
            <a:round/>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
        <p:nvSpPr>
          <p:cNvPr id="43" name=""/>
          <p:cNvSpPr/>
          <p:nvPr/>
        </p:nvSpPr>
        <p:spPr>
          <a:xfrm>
            <a:off x="2357280" y="1709640"/>
            <a:ext cx="322560" cy="360360"/>
          </a:xfrm>
          <a:prstGeom prst="rightArrow">
            <a:avLst>
              <a:gd name="adj1" fmla="val 50000"/>
              <a:gd name="adj2" fmla="val 25000"/>
            </a:avLst>
          </a:prstGeom>
          <a:solidFill>
            <a:srgbClr val="B4C7DC"/>
          </a:solidFill>
          <a:ln w="9360">
            <a:solidFill>
              <a:srgbClr val="3465A4"/>
            </a:solidFill>
            <a:round/>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Tree>
  </p:cSld>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4" name=""/>
          <p:cNvPicPr/>
          <p:nvPr/>
        </p:nvPicPr>
        <p:blipFill>
          <a:blip r:embed="rId1"/>
          <a:stretch/>
        </p:blipFill>
        <p:spPr>
          <a:xfrm>
            <a:off x="179280" y="147600"/>
            <a:ext cx="9720360" cy="5443560"/>
          </a:xfrm>
          <a:prstGeom prst="rect">
            <a:avLst/>
          </a:prstGeom>
          <a:noFill/>
          <a:ln w="0">
            <a:noFill/>
          </a:ln>
        </p:spPr>
      </p:pic>
      <p:sp>
        <p:nvSpPr>
          <p:cNvPr id="45"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46"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3. Análisis del Dataset Original</a:t>
            </a:r>
            <a:endParaRPr lang="es-ES" sz="2400" b="0" u="none" strike="noStrike">
              <a:solidFill>
                <a:srgbClr val="000000"/>
              </a:solidFill>
              <a:effectLst/>
              <a:uFillTx/>
              <a:latin typeface="Arial"/>
            </a:endParaRPr>
          </a:p>
        </p:txBody>
      </p:sp>
      <p:sp>
        <p:nvSpPr>
          <p:cNvPr id="47" name=""/>
          <p:cNvSpPr/>
          <p:nvPr/>
        </p:nvSpPr>
        <p:spPr>
          <a:xfrm>
            <a:off x="736560" y="865080"/>
            <a:ext cx="2324160" cy="86364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gn="ct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600" b="0" u="none" strike="noStrike">
                <a:solidFill>
                  <a:srgbClr val="FFFFFF"/>
                </a:solidFill>
                <a:effectLst/>
                <a:uFillTx/>
                <a:latin typeface="Bahnschrift SemiLight"/>
              </a:rPr>
              <a:t>5.284 REGISTROS </a:t>
            </a:r>
            <a:br>
              <a:rPr sz="1600"/>
            </a:br>
            <a:r>
              <a:rPr lang="es-ES" sz="1600" b="0" u="none" strike="noStrike">
                <a:solidFill>
                  <a:srgbClr val="FFFFFF"/>
                </a:solidFill>
                <a:effectLst/>
                <a:uFillTx/>
                <a:latin typeface="Bahnschrift SemiLight"/>
              </a:rPr>
              <a:t>Y 45 COLUMNAS</a:t>
            </a:r>
            <a:endParaRPr lang="es-ES" sz="1600" b="0" u="none" strike="noStrike">
              <a:solidFill>
                <a:srgbClr val="000000"/>
              </a:solidFill>
              <a:effectLst/>
              <a:uFillTx/>
              <a:latin typeface="Arial"/>
            </a:endParaRPr>
          </a:p>
        </p:txBody>
      </p:sp>
      <p:sp>
        <p:nvSpPr>
          <p:cNvPr id="48" name=""/>
          <p:cNvSpPr/>
          <p:nvPr/>
        </p:nvSpPr>
        <p:spPr>
          <a:xfrm>
            <a:off x="719280" y="2233440"/>
            <a:ext cx="2881080" cy="255456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600" b="0" u="none" strike="noStrike">
                <a:solidFill>
                  <a:srgbClr val="FFFFFF"/>
                </a:solidFill>
                <a:effectLst/>
                <a:uFillTx/>
                <a:latin typeface="Bahnschrift SemiLight"/>
              </a:rPr>
              <a:t>Tipos de variables: </a:t>
            </a:r>
            <a:endParaRPr lang="es-ES" sz="1600" b="0" u="none" strike="noStrike">
              <a:solidFill>
                <a:srgbClr val="000000"/>
              </a:solidFill>
              <a:effectLst/>
              <a:uFillTx/>
              <a:latin typeface="Arial"/>
            </a:endParaRPr>
          </a:p>
          <a:p>
            <a:pPr marL="343080" indent="-343080">
              <a:lnSpc>
                <a:spcPct val="93000"/>
              </a:lnSpc>
              <a:spcBef>
                <a:spcPts val="187"/>
              </a:spcBef>
              <a:spcAft>
                <a:spcPts val="187"/>
              </a:spcAft>
              <a:buClr>
                <a:srgbClr val="FFFFFF"/>
              </a:buClr>
              <a:buSzPct val="45000"/>
              <a:buFont typeface="Wingdings" charset="2"/>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600" b="0" u="none" strike="noStrike">
                <a:solidFill>
                  <a:srgbClr val="FFFFFF"/>
                </a:solidFill>
                <a:effectLst/>
                <a:uFillTx/>
                <a:latin typeface="Bahnschrift SemiLight"/>
              </a:rPr>
              <a:t>4  de identificación</a:t>
            </a:r>
            <a:endParaRPr lang="es-ES" sz="1600" b="0" u="none" strike="noStrike">
              <a:solidFill>
                <a:srgbClr val="000000"/>
              </a:solidFill>
              <a:effectLst/>
              <a:uFillTx/>
              <a:latin typeface="Arial"/>
            </a:endParaRPr>
          </a:p>
          <a:p>
            <a:pPr marL="343080" indent="-343080">
              <a:lnSpc>
                <a:spcPct val="93000"/>
              </a:lnSpc>
              <a:spcBef>
                <a:spcPts val="187"/>
              </a:spcBef>
              <a:spcAft>
                <a:spcPts val="187"/>
              </a:spcAft>
              <a:buClr>
                <a:srgbClr val="FFFFFF"/>
              </a:buClr>
              <a:buSzPct val="45000"/>
              <a:buFont typeface="Wingdings" charset="2"/>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600" b="0" u="none" strike="noStrike">
                <a:solidFill>
                  <a:srgbClr val="FFFFFF"/>
                </a:solidFill>
                <a:effectLst/>
                <a:uFillTx/>
                <a:latin typeface="Bahnschrift SemiLight"/>
              </a:rPr>
              <a:t>11 de caracterización (sociodemográficas)</a:t>
            </a:r>
            <a:endParaRPr lang="es-ES" sz="1600" b="0" u="none" strike="noStrike">
              <a:solidFill>
                <a:srgbClr val="000000"/>
              </a:solidFill>
              <a:effectLst/>
              <a:uFillTx/>
              <a:latin typeface="Arial"/>
            </a:endParaRPr>
          </a:p>
          <a:p>
            <a:pPr marL="343080" indent="-343080">
              <a:lnSpc>
                <a:spcPct val="93000"/>
              </a:lnSpc>
              <a:spcBef>
                <a:spcPts val="187"/>
              </a:spcBef>
              <a:spcAft>
                <a:spcPts val="187"/>
              </a:spcAft>
              <a:buClr>
                <a:srgbClr val="FFFFFF"/>
              </a:buClr>
              <a:buSzPct val="45000"/>
              <a:buFont typeface="Wingdings" charset="2"/>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600" b="0" u="none" strike="noStrike">
                <a:solidFill>
                  <a:srgbClr val="FFFFFF"/>
                </a:solidFill>
                <a:effectLst/>
                <a:uFillTx/>
                <a:latin typeface="Bahnschrift SemiLight"/>
              </a:rPr>
              <a:t>30 de valoración (grado satisfacción, nivel de confianza, estado de ánimo...)</a:t>
            </a:r>
            <a:endParaRPr lang="es-ES" sz="1600" b="0" u="none" strike="noStrike">
              <a:solidFill>
                <a:srgbClr val="000000"/>
              </a:solidFill>
              <a:effectLst/>
              <a:uFillTx/>
              <a:latin typeface="Arial"/>
            </a:endParaRPr>
          </a:p>
        </p:txBody>
      </p:sp>
      <p:sp>
        <p:nvSpPr>
          <p:cNvPr id="49" name=""/>
          <p:cNvSpPr/>
          <p:nvPr/>
        </p:nvSpPr>
        <p:spPr>
          <a:xfrm>
            <a:off x="3708360" y="3095640"/>
            <a:ext cx="682560" cy="360360"/>
          </a:xfrm>
          <a:prstGeom prst="rightArrow">
            <a:avLst>
              <a:gd name="adj1" fmla="val 50000"/>
              <a:gd name="adj2" fmla="val 47353"/>
            </a:avLst>
          </a:prstGeom>
          <a:solidFill>
            <a:srgbClr val="729FCF"/>
          </a:solidFill>
          <a:ln w="9360">
            <a:solidFill>
              <a:srgbClr val="3465A4"/>
            </a:solidFill>
            <a:round/>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
        <p:nvSpPr>
          <p:cNvPr id="50" name=""/>
          <p:cNvSpPr/>
          <p:nvPr/>
        </p:nvSpPr>
        <p:spPr>
          <a:xfrm>
            <a:off x="1547640" y="1800360"/>
            <a:ext cx="468360" cy="323640"/>
          </a:xfrm>
          <a:prstGeom prst="downArrow">
            <a:avLst>
              <a:gd name="adj1" fmla="val 50000"/>
              <a:gd name="adj2" fmla="val 25000"/>
            </a:avLst>
          </a:prstGeom>
          <a:solidFill>
            <a:srgbClr val="729FCF"/>
          </a:solidFill>
          <a:ln w="9360">
            <a:solidFill>
              <a:srgbClr val="3465A4"/>
            </a:solidFill>
            <a:round/>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
        <p:nvSpPr>
          <p:cNvPr id="51" name=""/>
          <p:cNvSpPr/>
          <p:nvPr/>
        </p:nvSpPr>
        <p:spPr>
          <a:xfrm>
            <a:off x="4500720" y="1008000"/>
            <a:ext cx="4932360" cy="349272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600" b="0" u="sng" strike="noStrike">
                <a:solidFill>
                  <a:srgbClr val="FFFFFF"/>
                </a:solidFill>
                <a:effectLst/>
                <a:uFillTx/>
                <a:latin typeface="Bahnschrift SemiLight"/>
              </a:rPr>
              <a:t> Evaluación problemática de las variables </a:t>
            </a:r>
            <a:endParaRPr lang="es-ES" sz="1600" b="0" u="none" strike="noStrike">
              <a:solidFill>
                <a:srgbClr val="000000"/>
              </a:solidFill>
              <a:effectLst/>
              <a:uFillTx/>
              <a:latin typeface="Arial"/>
            </a:endParaRPr>
          </a:p>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es-ES" sz="1600" b="0" u="none" strike="noStrike">
              <a:solidFill>
                <a:srgbClr val="000000"/>
              </a:solidFill>
              <a:effectLst/>
              <a:uFillTx/>
              <a:latin typeface="Arial"/>
            </a:endParaRPr>
          </a:p>
          <a:p>
            <a:pPr marL="179280" indent="-108000">
              <a:lnSpc>
                <a:spcPct val="93000"/>
              </a:lnSpc>
              <a:spcBef>
                <a:spcPts val="187"/>
              </a:spcBef>
              <a:spcAft>
                <a:spcPts val="187"/>
              </a:spcAft>
              <a:buClr>
                <a:srgbClr val="FFFFFF"/>
              </a:buClr>
              <a:buSzPct val="45000"/>
              <a:buFont typeface="Wingdings" charset="2"/>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600" b="0" u="none" strike="noStrike">
                <a:solidFill>
                  <a:srgbClr val="FFFFFF"/>
                </a:solidFill>
                <a:effectLst/>
                <a:uFillTx/>
                <a:latin typeface="Bahnschrift SemiLight"/>
              </a:rPr>
              <a:t> Predominio de variables  numéricas (un único string sin  interés)</a:t>
            </a:r>
            <a:endParaRPr lang="es-ES" sz="1600" b="0" u="none" strike="noStrike">
              <a:solidFill>
                <a:srgbClr val="000000"/>
              </a:solidFill>
              <a:effectLst/>
              <a:uFillTx/>
              <a:latin typeface="Arial"/>
            </a:endParaRPr>
          </a:p>
          <a:p>
            <a:pPr marL="179280" indent="-108000">
              <a:lnSpc>
                <a:spcPct val="93000"/>
              </a:lnSpc>
              <a:spcBef>
                <a:spcPts val="187"/>
              </a:spcBef>
              <a:spcAft>
                <a:spcPts val="187"/>
              </a:spcAft>
              <a:buClr>
                <a:srgbClr val="FFFFFF"/>
              </a:buClr>
              <a:buSzPct val="45000"/>
              <a:buFont typeface="Wingdings" charset="2"/>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600" b="0" u="none" strike="noStrike">
                <a:solidFill>
                  <a:srgbClr val="FFFFFF"/>
                </a:solidFill>
                <a:effectLst/>
                <a:uFillTx/>
                <a:latin typeface="Bahnschrift SemiLight"/>
              </a:rPr>
              <a:t> Una variable vacía</a:t>
            </a:r>
            <a:endParaRPr lang="es-ES" sz="1600" b="0" u="none" strike="noStrike">
              <a:solidFill>
                <a:srgbClr val="000000"/>
              </a:solidFill>
              <a:effectLst/>
              <a:uFillTx/>
              <a:latin typeface="Arial"/>
            </a:endParaRPr>
          </a:p>
          <a:p>
            <a:pPr marL="179280" indent="-108000">
              <a:lnSpc>
                <a:spcPct val="93000"/>
              </a:lnSpc>
              <a:spcBef>
                <a:spcPts val="187"/>
              </a:spcBef>
              <a:spcAft>
                <a:spcPts val="187"/>
              </a:spcAft>
              <a:buClr>
                <a:srgbClr val="FFFFFF"/>
              </a:buClr>
              <a:buSzPct val="45000"/>
              <a:buFont typeface="Wingdings" charset="2"/>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600" b="0" u="none" strike="noStrike">
                <a:solidFill>
                  <a:srgbClr val="FFFFFF"/>
                </a:solidFill>
                <a:effectLst/>
                <a:uFillTx/>
                <a:latin typeface="Bahnschrift SemiLight"/>
              </a:rPr>
              <a:t> Una variable con elevada presencia de valores “raros”, a evaluar y trabajar</a:t>
            </a:r>
            <a:endParaRPr lang="es-ES" sz="1600" b="0" u="none" strike="noStrike">
              <a:solidFill>
                <a:srgbClr val="000000"/>
              </a:solidFill>
              <a:effectLst/>
              <a:uFillTx/>
              <a:latin typeface="Arial"/>
            </a:endParaRPr>
          </a:p>
          <a:p>
            <a:pPr marL="179280" indent="-108000">
              <a:lnSpc>
                <a:spcPct val="93000"/>
              </a:lnSpc>
              <a:spcBef>
                <a:spcPts val="187"/>
              </a:spcBef>
              <a:spcAft>
                <a:spcPts val="187"/>
              </a:spcAft>
              <a:buClr>
                <a:srgbClr val="FFFFFF"/>
              </a:buClr>
              <a:buSzPct val="45000"/>
              <a:buFont typeface="Wingdings" charset="2"/>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600" b="0" u="none" strike="noStrike">
                <a:solidFill>
                  <a:srgbClr val="FFFFFF"/>
                </a:solidFill>
                <a:effectLst/>
                <a:uFillTx/>
                <a:latin typeface="Bahnschrift SemiLight"/>
              </a:rPr>
              <a:t> Presencia de variables de evaluación con sentido inverso a las principales y al target (“cuanto más peor” en lugar de “cuanto más mejor”)</a:t>
            </a:r>
            <a:endParaRPr lang="es-ES" sz="1600" b="0" u="none" strike="noStrike">
              <a:solidFill>
                <a:srgbClr val="000000"/>
              </a:solidFill>
              <a:effectLst/>
              <a:uFillTx/>
              <a:latin typeface="Arial"/>
            </a:endParaRPr>
          </a:p>
          <a:p>
            <a:pPr marL="179280" indent="-108000">
              <a:lnSpc>
                <a:spcPct val="93000"/>
              </a:lnSpc>
              <a:spcBef>
                <a:spcPts val="187"/>
              </a:spcBef>
              <a:spcAft>
                <a:spcPts val="187"/>
              </a:spcAft>
              <a:buClr>
                <a:srgbClr val="FFFFFF"/>
              </a:buClr>
              <a:buSzPct val="45000"/>
              <a:buFont typeface="Wingdings" charset="2"/>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600" b="0" u="none" strike="noStrike">
                <a:solidFill>
                  <a:srgbClr val="FFFFFF"/>
                </a:solidFill>
                <a:effectLst/>
                <a:uFillTx/>
                <a:latin typeface="Bahnschrift SemiLight"/>
              </a:rPr>
              <a:t> Diferentes rangos de valoración: de 1 a 10, de 1 a 3, de 1 a 4</a:t>
            </a:r>
            <a:endParaRPr lang="es-ES" sz="1600" b="0" u="none" strike="noStrike">
              <a:solidFill>
                <a:srgbClr val="000000"/>
              </a:solidFill>
              <a:effectLst/>
              <a:uFillTx/>
              <a:latin typeface="Arial"/>
            </a:endParaRPr>
          </a:p>
        </p:txBody>
      </p:sp>
    </p:spTree>
  </p:cSld>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2" name=""/>
          <p:cNvPicPr/>
          <p:nvPr/>
        </p:nvPicPr>
        <p:blipFill>
          <a:blip r:embed="rId1"/>
          <a:stretch/>
        </p:blipFill>
        <p:spPr>
          <a:xfrm>
            <a:off x="179280" y="147600"/>
            <a:ext cx="9720360" cy="5443560"/>
          </a:xfrm>
          <a:prstGeom prst="rect">
            <a:avLst/>
          </a:prstGeom>
          <a:noFill/>
          <a:ln w="0">
            <a:noFill/>
          </a:ln>
        </p:spPr>
      </p:pic>
      <p:sp>
        <p:nvSpPr>
          <p:cNvPr id="53"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54"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3. Análisis del Dataset Original (ii)</a:t>
            </a:r>
            <a:endParaRPr lang="es-ES" sz="2400" b="0" u="none" strike="noStrike">
              <a:solidFill>
                <a:srgbClr val="000000"/>
              </a:solidFill>
              <a:effectLst/>
              <a:uFillTx/>
              <a:latin typeface="Arial"/>
            </a:endParaRPr>
          </a:p>
        </p:txBody>
      </p:sp>
      <p:sp>
        <p:nvSpPr>
          <p:cNvPr id="55" name=""/>
          <p:cNvSpPr/>
          <p:nvPr/>
        </p:nvSpPr>
        <p:spPr>
          <a:xfrm>
            <a:off x="2700360" y="4032360"/>
            <a:ext cx="1979640" cy="539640"/>
          </a:xfrm>
          <a:custGeom>
            <a:avLst/>
            <a:gdLst/>
            <a:ahLst/>
            <a:rect l="l" t="t" r="r" b="b"/>
            <a:pathLst>
              <a:path w="841" h="854">
                <a:moveTo>
                  <a:pt x="517" y="247"/>
                </a:moveTo>
                <a:lnTo>
                  <a:pt x="517" y="415"/>
                </a:lnTo>
                <a:lnTo>
                  <a:pt x="264" y="415"/>
                </a:lnTo>
                <a:lnTo>
                  <a:pt x="264" y="0"/>
                </a:lnTo>
                <a:lnTo>
                  <a:pt x="0" y="0"/>
                </a:lnTo>
                <a:lnTo>
                  <a:pt x="0" y="680"/>
                </a:lnTo>
                <a:lnTo>
                  <a:pt x="517" y="680"/>
                </a:lnTo>
                <a:lnTo>
                  <a:pt x="517" y="854"/>
                </a:lnTo>
                <a:lnTo>
                  <a:pt x="841" y="547"/>
                </a:lnTo>
                <a:lnTo>
                  <a:pt x="517" y="247"/>
                </a:lnTo>
                <a:close/>
              </a:path>
            </a:pathLst>
          </a:custGeom>
          <a:solidFill>
            <a:srgbClr val="729FCF"/>
          </a:solidFill>
          <a:ln w="9360">
            <a:solidFill>
              <a:srgbClr val="3465A4"/>
            </a:solidFill>
            <a:round/>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
        <p:nvSpPr>
          <p:cNvPr id="56" name=""/>
          <p:cNvSpPr/>
          <p:nvPr/>
        </p:nvSpPr>
        <p:spPr>
          <a:xfrm>
            <a:off x="826920" y="973080"/>
            <a:ext cx="2700360" cy="1079640"/>
          </a:xfrm>
          <a:prstGeom prst="roundRect">
            <a:avLst>
              <a:gd name="adj" fmla="val 16667"/>
            </a:avLst>
          </a:prstGeom>
          <a:solidFill>
            <a:srgbClr val="3465A4"/>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600" b="0" u="none" strike="noStrike">
                <a:solidFill>
                  <a:srgbClr val="FFFFFF"/>
                </a:solidFill>
                <a:effectLst/>
                <a:uFillTx/>
                <a:latin typeface="Bahnschrift SemiLight"/>
              </a:rPr>
              <a:t>TARGET: </a:t>
            </a:r>
            <a:endParaRPr lang="es-ES" sz="1600" b="0" u="none" strike="noStrike">
              <a:solidFill>
                <a:srgbClr val="000000"/>
              </a:solidFill>
              <a:effectLst/>
              <a:uFillTx/>
              <a:latin typeface="Arial"/>
            </a:endParaRPr>
          </a:p>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600" b="0" u="none" strike="noStrike">
                <a:solidFill>
                  <a:srgbClr val="FFFFFF"/>
                </a:solidFill>
                <a:effectLst/>
                <a:uFillTx/>
                <a:latin typeface="Bahnschrift SemiLight"/>
              </a:rPr>
              <a:t>Satisfacción General con la Vida (SVIDA)</a:t>
            </a:r>
            <a:endParaRPr lang="es-ES" sz="1600" b="0" u="none" strike="noStrike">
              <a:solidFill>
                <a:srgbClr val="000000"/>
              </a:solidFill>
              <a:effectLst/>
              <a:uFillTx/>
              <a:latin typeface="Arial"/>
            </a:endParaRPr>
          </a:p>
        </p:txBody>
      </p:sp>
      <p:pic>
        <p:nvPicPr>
          <p:cNvPr id="57" name=""/>
          <p:cNvPicPr/>
          <p:nvPr/>
        </p:nvPicPr>
        <p:blipFill>
          <a:blip r:embed="rId2"/>
          <a:stretch/>
        </p:blipFill>
        <p:spPr>
          <a:xfrm>
            <a:off x="4870440" y="1474920"/>
            <a:ext cx="3948120" cy="3328920"/>
          </a:xfrm>
          <a:prstGeom prst="rect">
            <a:avLst/>
          </a:prstGeom>
          <a:noFill/>
          <a:ln w="9360">
            <a:solidFill>
              <a:srgbClr val="3465A4"/>
            </a:solidFill>
            <a:round/>
          </a:ln>
          <a:effectLst>
            <a:outerShdw dist="101823" dir="2700000" rotWithShape="0">
              <a:srgbClr val="5983B0">
                <a:alpha val="70000"/>
              </a:srgbClr>
            </a:outerShdw>
          </a:effectLst>
        </p:spPr>
      </p:pic>
      <p:sp>
        <p:nvSpPr>
          <p:cNvPr id="58" name=""/>
          <p:cNvSpPr/>
          <p:nvPr/>
        </p:nvSpPr>
        <p:spPr>
          <a:xfrm>
            <a:off x="1492200" y="2519280"/>
            <a:ext cx="2648160" cy="144000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115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300" b="0" u="none" strike="noStrike">
                <a:solidFill>
                  <a:srgbClr val="FFFFFF"/>
                </a:solidFill>
                <a:effectLst/>
                <a:uFillTx/>
                <a:latin typeface="Bahnschrift SemiLight"/>
              </a:rPr>
              <a:t>El valor medio de satisfacción general con la vida es de 7,31, con una desviación típica de 1,77 (5,54 a 9,08). </a:t>
            </a:r>
            <a:endParaRPr lang="es-ES" sz="1300" b="0" u="none" strike="noStrike">
              <a:solidFill>
                <a:srgbClr val="000000"/>
              </a:solidFill>
              <a:effectLst/>
              <a:uFillTx/>
              <a:latin typeface="Arial"/>
            </a:endParaRPr>
          </a:p>
        </p:txBody>
      </p:sp>
    </p:spTree>
  </p:cSld>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9" name=""/>
          <p:cNvPicPr/>
          <p:nvPr/>
        </p:nvPicPr>
        <p:blipFill>
          <a:blip r:embed="rId1"/>
          <a:stretch/>
        </p:blipFill>
        <p:spPr>
          <a:xfrm>
            <a:off x="179280" y="147600"/>
            <a:ext cx="9720360" cy="5443560"/>
          </a:xfrm>
          <a:prstGeom prst="rect">
            <a:avLst/>
          </a:prstGeom>
          <a:noFill/>
          <a:ln w="0">
            <a:noFill/>
          </a:ln>
        </p:spPr>
      </p:pic>
      <p:sp>
        <p:nvSpPr>
          <p:cNvPr id="60"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61"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3. Análisis del Dataset Original (iii)</a:t>
            </a:r>
            <a:endParaRPr lang="es-ES" sz="2400" b="0" u="none" strike="noStrike">
              <a:solidFill>
                <a:srgbClr val="000000"/>
              </a:solidFill>
              <a:effectLst/>
              <a:uFillTx/>
              <a:latin typeface="Arial"/>
            </a:endParaRPr>
          </a:p>
        </p:txBody>
      </p:sp>
      <p:sp>
        <p:nvSpPr>
          <p:cNvPr id="62" name=""/>
          <p:cNvSpPr/>
          <p:nvPr/>
        </p:nvSpPr>
        <p:spPr>
          <a:xfrm>
            <a:off x="900000" y="3276720"/>
            <a:ext cx="1979640" cy="539640"/>
          </a:xfrm>
          <a:custGeom>
            <a:avLst/>
            <a:gdLst/>
            <a:ahLst/>
            <a:rect l="l" t="t" r="r" b="b"/>
            <a:pathLst>
              <a:path w="841" h="854">
                <a:moveTo>
                  <a:pt x="517" y="247"/>
                </a:moveTo>
                <a:lnTo>
                  <a:pt x="517" y="415"/>
                </a:lnTo>
                <a:lnTo>
                  <a:pt x="264" y="415"/>
                </a:lnTo>
                <a:lnTo>
                  <a:pt x="264" y="0"/>
                </a:lnTo>
                <a:lnTo>
                  <a:pt x="0" y="0"/>
                </a:lnTo>
                <a:lnTo>
                  <a:pt x="0" y="680"/>
                </a:lnTo>
                <a:lnTo>
                  <a:pt x="517" y="680"/>
                </a:lnTo>
                <a:lnTo>
                  <a:pt x="517" y="854"/>
                </a:lnTo>
                <a:lnTo>
                  <a:pt x="841" y="547"/>
                </a:lnTo>
                <a:lnTo>
                  <a:pt x="517" y="247"/>
                </a:lnTo>
                <a:close/>
              </a:path>
            </a:pathLst>
          </a:custGeom>
          <a:solidFill>
            <a:srgbClr val="729FCF"/>
          </a:solidFill>
          <a:ln w="9360">
            <a:solidFill>
              <a:srgbClr val="3465A4"/>
            </a:solidFill>
            <a:round/>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
        <p:nvSpPr>
          <p:cNvPr id="63" name=""/>
          <p:cNvSpPr/>
          <p:nvPr/>
        </p:nvSpPr>
        <p:spPr>
          <a:xfrm>
            <a:off x="720720" y="1079640"/>
            <a:ext cx="1979640" cy="2160360"/>
          </a:xfrm>
          <a:custGeom>
            <a:avLst/>
            <a:gdLst>
              <a:gd name="textAreaLeft" fmla="*/ 96480 w 1979640"/>
              <a:gd name="textAreaRight" fmla="*/ 1883160 w 1979640"/>
              <a:gd name="textAreaTop" fmla="*/ 96480 h 2160360"/>
              <a:gd name="textAreaBottom" fmla="*/ 2063880 h 2160360"/>
            </a:gdLst>
            <a:ahLst/>
            <a:cxnLst/>
            <a:rect l="textAreaLeft" t="textAreaTop" r="textAreaRight" b="textAreaBottom"/>
            <a:pathLst>
              <a:path w="21600" h="23571">
                <a:moveTo>
                  <a:pt x="3600" y="0"/>
                </a:moveTo>
                <a:arcTo wR="3600" hR="3600" stAng="16200000" swAng="-5400000"/>
                <a:lnTo>
                  <a:pt x="0" y="19971"/>
                </a:lnTo>
                <a:arcTo wR="3600" hR="3600" stAng="10800000" swAng="-5400000"/>
                <a:lnTo>
                  <a:pt x="18000" y="23571"/>
                </a:lnTo>
                <a:arcTo wR="3600" hR="3600" stAng="5400000" swAng="-5400000"/>
                <a:lnTo>
                  <a:pt x="21600" y="3600"/>
                </a:lnTo>
                <a:arcTo wR="3600" hR="3600" stAng="0" swAng="-5400000"/>
                <a:close/>
              </a:path>
            </a:pathLst>
          </a:cu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115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300" b="0" u="none" strike="noStrike">
                <a:solidFill>
                  <a:srgbClr val="FFFFFF"/>
                </a:solidFill>
                <a:effectLst/>
                <a:uFillTx/>
                <a:latin typeface="Bahnschrift SemiLight"/>
              </a:rPr>
              <a:t>Gráficos de frecuencias, para primera aproximación a los datos y distribución de población encuestada según parámetros sociodemográficos</a:t>
            </a:r>
            <a:endParaRPr lang="es-ES" sz="1300" b="0" u="none" strike="noStrike">
              <a:solidFill>
                <a:srgbClr val="000000"/>
              </a:solidFill>
              <a:effectLst/>
              <a:uFillTx/>
              <a:latin typeface="Arial"/>
            </a:endParaRPr>
          </a:p>
        </p:txBody>
      </p:sp>
      <p:grpSp>
        <p:nvGrpSpPr>
          <p:cNvPr id="64" name=""/>
          <p:cNvGrpSpPr/>
          <p:nvPr/>
        </p:nvGrpSpPr>
        <p:grpSpPr>
          <a:xfrm>
            <a:off x="2987640" y="763560"/>
            <a:ext cx="5367240" cy="4491000"/>
            <a:chOff x="2987640" y="763560"/>
            <a:chExt cx="5367240" cy="4491000"/>
          </a:xfrm>
        </p:grpSpPr>
        <p:pic>
          <p:nvPicPr>
            <p:cNvPr id="65" name=""/>
            <p:cNvPicPr/>
            <p:nvPr/>
          </p:nvPicPr>
          <p:blipFill>
            <a:blip r:embed="rId2"/>
            <a:stretch/>
          </p:blipFill>
          <p:spPr>
            <a:xfrm>
              <a:off x="2987640" y="763560"/>
              <a:ext cx="5367240" cy="4491000"/>
            </a:xfrm>
            <a:prstGeom prst="rect">
              <a:avLst/>
            </a:prstGeom>
            <a:noFill/>
            <a:ln w="9360">
              <a:solidFill>
                <a:srgbClr val="3465A4"/>
              </a:solidFill>
              <a:round/>
            </a:ln>
            <a:effectLst>
              <a:outerShdw dist="101823" dir="2700000" rotWithShape="0">
                <a:srgbClr val="5983B0">
                  <a:alpha val="70000"/>
                </a:srgbClr>
              </a:outerShdw>
            </a:effectLst>
          </p:spPr>
        </p:pic>
        <p:sp>
          <p:nvSpPr>
            <p:cNvPr id="66" name=""/>
            <p:cNvSpPr/>
            <p:nvPr/>
          </p:nvSpPr>
          <p:spPr>
            <a:xfrm>
              <a:off x="6588000" y="3743280"/>
              <a:ext cx="1765440" cy="1509840"/>
            </a:xfrm>
            <a:prstGeom prst="rect">
              <a:avLst/>
            </a:prstGeom>
            <a:solidFill>
              <a:srgbClr val="FFFFFF"/>
            </a:solidFill>
            <a:ln w="0">
              <a:noFill/>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grpSp>
    </p:spTree>
  </p:cSld>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7" name=""/>
          <p:cNvPicPr/>
          <p:nvPr/>
        </p:nvPicPr>
        <p:blipFill>
          <a:blip r:embed="rId1"/>
          <a:stretch/>
        </p:blipFill>
        <p:spPr>
          <a:xfrm>
            <a:off x="179280" y="147600"/>
            <a:ext cx="9720360" cy="5443560"/>
          </a:xfrm>
          <a:prstGeom prst="rect">
            <a:avLst/>
          </a:prstGeom>
          <a:noFill/>
          <a:ln w="0">
            <a:noFill/>
          </a:ln>
        </p:spPr>
      </p:pic>
      <p:sp>
        <p:nvSpPr>
          <p:cNvPr id="68"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69"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3. Análisis del Dataset Original (iv)</a:t>
            </a:r>
            <a:endParaRPr lang="es-ES" sz="2400" b="0" u="none" strike="noStrike">
              <a:solidFill>
                <a:srgbClr val="000000"/>
              </a:solidFill>
              <a:effectLst/>
              <a:uFillTx/>
              <a:latin typeface="Arial"/>
            </a:endParaRPr>
          </a:p>
        </p:txBody>
      </p:sp>
      <p:sp>
        <p:nvSpPr>
          <p:cNvPr id="70" name=""/>
          <p:cNvSpPr/>
          <p:nvPr/>
        </p:nvSpPr>
        <p:spPr>
          <a:xfrm>
            <a:off x="900000" y="3959280"/>
            <a:ext cx="1979640" cy="539640"/>
          </a:xfrm>
          <a:custGeom>
            <a:avLst/>
            <a:gdLst/>
            <a:ahLst/>
            <a:rect l="l" t="t" r="r" b="b"/>
            <a:pathLst>
              <a:path w="841" h="854">
                <a:moveTo>
                  <a:pt x="517" y="247"/>
                </a:moveTo>
                <a:lnTo>
                  <a:pt x="517" y="415"/>
                </a:lnTo>
                <a:lnTo>
                  <a:pt x="264" y="415"/>
                </a:lnTo>
                <a:lnTo>
                  <a:pt x="264" y="0"/>
                </a:lnTo>
                <a:lnTo>
                  <a:pt x="0" y="0"/>
                </a:lnTo>
                <a:lnTo>
                  <a:pt x="0" y="680"/>
                </a:lnTo>
                <a:lnTo>
                  <a:pt x="517" y="680"/>
                </a:lnTo>
                <a:lnTo>
                  <a:pt x="517" y="854"/>
                </a:lnTo>
                <a:lnTo>
                  <a:pt x="841" y="547"/>
                </a:lnTo>
                <a:lnTo>
                  <a:pt x="517" y="247"/>
                </a:lnTo>
                <a:close/>
              </a:path>
            </a:pathLst>
          </a:custGeom>
          <a:solidFill>
            <a:srgbClr val="729FCF"/>
          </a:solidFill>
          <a:ln w="9360">
            <a:solidFill>
              <a:srgbClr val="3465A4"/>
            </a:solidFill>
            <a:round/>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
        <p:nvSpPr>
          <p:cNvPr id="71" name=""/>
          <p:cNvSpPr/>
          <p:nvPr/>
        </p:nvSpPr>
        <p:spPr>
          <a:xfrm>
            <a:off x="720720" y="1079640"/>
            <a:ext cx="1979640" cy="2519280"/>
          </a:xfrm>
          <a:custGeom>
            <a:avLst/>
            <a:gdLst>
              <a:gd name="textAreaLeft" fmla="*/ 96480 w 1979640"/>
              <a:gd name="textAreaRight" fmla="*/ 1883160 w 1979640"/>
              <a:gd name="textAreaTop" fmla="*/ 96480 h 2519280"/>
              <a:gd name="textAreaBottom" fmla="*/ 2422800 h 2519280"/>
            </a:gdLst>
            <a:ahLst/>
            <a:cxnLst/>
            <a:rect l="textAreaLeft" t="textAreaTop" r="textAreaRight" b="textAreaBottom"/>
            <a:pathLst>
              <a:path w="21600" h="27487">
                <a:moveTo>
                  <a:pt x="3600" y="0"/>
                </a:moveTo>
                <a:arcTo wR="3600" hR="3600" stAng="16200000" swAng="-5400000"/>
                <a:lnTo>
                  <a:pt x="0" y="23887"/>
                </a:lnTo>
                <a:arcTo wR="3600" hR="3600" stAng="10800000" swAng="-5400000"/>
                <a:lnTo>
                  <a:pt x="18000" y="27487"/>
                </a:lnTo>
                <a:arcTo wR="3600" hR="3600" stAng="5400000" swAng="-5400000"/>
                <a:lnTo>
                  <a:pt x="21600" y="3600"/>
                </a:lnTo>
                <a:arcTo wR="3600" hR="3600" stAng="0" swAng="-5400000"/>
                <a:close/>
              </a:path>
            </a:pathLst>
          </a:cu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115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300" b="0" u="none" strike="noStrike">
                <a:solidFill>
                  <a:srgbClr val="FFFFFF"/>
                </a:solidFill>
                <a:effectLst/>
                <a:uFillTx/>
                <a:latin typeface="Bahnschrift SemiLight"/>
              </a:rPr>
              <a:t>Gráficos de frecuencias de las variables de evaluación: satisfacción con las relaciones personales, satisfacción con tiempo disponible, ….</a:t>
            </a:r>
            <a:endParaRPr lang="es-ES" sz="1300" b="0" u="none" strike="noStrike">
              <a:solidFill>
                <a:srgbClr val="000000"/>
              </a:solidFill>
              <a:effectLst/>
              <a:uFillTx/>
              <a:latin typeface="Arial"/>
            </a:endParaRPr>
          </a:p>
        </p:txBody>
      </p:sp>
      <p:pic>
        <p:nvPicPr>
          <p:cNvPr id="72" name=""/>
          <p:cNvPicPr/>
          <p:nvPr/>
        </p:nvPicPr>
        <p:blipFill>
          <a:blip r:embed="rId2"/>
          <a:stretch/>
        </p:blipFill>
        <p:spPr>
          <a:xfrm>
            <a:off x="3306600" y="779400"/>
            <a:ext cx="5334120" cy="4478400"/>
          </a:xfrm>
          <a:prstGeom prst="rect">
            <a:avLst/>
          </a:prstGeom>
          <a:noFill/>
          <a:ln w="9360">
            <a:solidFill>
              <a:srgbClr val="3465A4"/>
            </a:solidFill>
            <a:round/>
          </a:ln>
          <a:effectLst>
            <a:outerShdw dist="101823" dir="2700000" rotWithShape="0">
              <a:srgbClr val="5983B0">
                <a:alpha val="70000"/>
              </a:srgbClr>
            </a:outerShdw>
          </a:effectLst>
        </p:spPr>
      </p:pic>
    </p:spTree>
  </p:cSld>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3" name=""/>
          <p:cNvPicPr/>
          <p:nvPr/>
        </p:nvPicPr>
        <p:blipFill>
          <a:blip r:embed="rId1"/>
          <a:stretch/>
        </p:blipFill>
        <p:spPr>
          <a:xfrm>
            <a:off x="179280" y="147600"/>
            <a:ext cx="9720360" cy="5443560"/>
          </a:xfrm>
          <a:prstGeom prst="rect">
            <a:avLst/>
          </a:prstGeom>
          <a:noFill/>
          <a:ln w="0">
            <a:noFill/>
          </a:ln>
        </p:spPr>
      </p:pic>
      <p:sp>
        <p:nvSpPr>
          <p:cNvPr id="74"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75"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3. Análisis del Dataset Original (v)</a:t>
            </a:r>
            <a:endParaRPr lang="es-ES" sz="2400" b="0" u="none" strike="noStrike">
              <a:solidFill>
                <a:srgbClr val="000000"/>
              </a:solidFill>
              <a:effectLst/>
              <a:uFillTx/>
              <a:latin typeface="Arial"/>
            </a:endParaRPr>
          </a:p>
        </p:txBody>
      </p:sp>
      <p:sp>
        <p:nvSpPr>
          <p:cNvPr id="76" name=""/>
          <p:cNvSpPr/>
          <p:nvPr/>
        </p:nvSpPr>
        <p:spPr>
          <a:xfrm>
            <a:off x="900000" y="3780000"/>
            <a:ext cx="1979640" cy="539640"/>
          </a:xfrm>
          <a:custGeom>
            <a:avLst/>
            <a:gdLst/>
            <a:ahLst/>
            <a:rect l="l" t="t" r="r" b="b"/>
            <a:pathLst>
              <a:path w="841" h="854">
                <a:moveTo>
                  <a:pt x="517" y="247"/>
                </a:moveTo>
                <a:lnTo>
                  <a:pt x="517" y="415"/>
                </a:lnTo>
                <a:lnTo>
                  <a:pt x="264" y="415"/>
                </a:lnTo>
                <a:lnTo>
                  <a:pt x="264" y="0"/>
                </a:lnTo>
                <a:lnTo>
                  <a:pt x="0" y="0"/>
                </a:lnTo>
                <a:lnTo>
                  <a:pt x="0" y="680"/>
                </a:lnTo>
                <a:lnTo>
                  <a:pt x="517" y="680"/>
                </a:lnTo>
                <a:lnTo>
                  <a:pt x="517" y="854"/>
                </a:lnTo>
                <a:lnTo>
                  <a:pt x="841" y="547"/>
                </a:lnTo>
                <a:lnTo>
                  <a:pt x="517" y="247"/>
                </a:lnTo>
                <a:close/>
              </a:path>
            </a:pathLst>
          </a:custGeom>
          <a:solidFill>
            <a:srgbClr val="729FCF"/>
          </a:solidFill>
          <a:ln w="9360">
            <a:solidFill>
              <a:srgbClr val="3465A4"/>
            </a:solidFill>
            <a:round/>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
        <p:nvSpPr>
          <p:cNvPr id="77" name=""/>
          <p:cNvSpPr/>
          <p:nvPr/>
        </p:nvSpPr>
        <p:spPr>
          <a:xfrm>
            <a:off x="720720" y="1116000"/>
            <a:ext cx="1979640" cy="2519280"/>
          </a:xfrm>
          <a:custGeom>
            <a:avLst/>
            <a:gdLst>
              <a:gd name="textAreaLeft" fmla="*/ 96480 w 1979640"/>
              <a:gd name="textAreaRight" fmla="*/ 1883160 w 1979640"/>
              <a:gd name="textAreaTop" fmla="*/ 96480 h 2519280"/>
              <a:gd name="textAreaBottom" fmla="*/ 2422800 h 2519280"/>
            </a:gdLst>
            <a:ahLst/>
            <a:cxnLst/>
            <a:rect l="textAreaLeft" t="textAreaTop" r="textAreaRight" b="textAreaBottom"/>
            <a:pathLst>
              <a:path w="21600" h="27487">
                <a:moveTo>
                  <a:pt x="3600" y="0"/>
                </a:moveTo>
                <a:arcTo wR="3600" hR="3600" stAng="16200000" swAng="-5400000"/>
                <a:lnTo>
                  <a:pt x="0" y="23887"/>
                </a:lnTo>
                <a:arcTo wR="3600" hR="3600" stAng="10800000" swAng="-5400000"/>
                <a:lnTo>
                  <a:pt x="18000" y="27487"/>
                </a:lnTo>
                <a:arcTo wR="3600" hR="3600" stAng="5400000" swAng="-5400000"/>
                <a:lnTo>
                  <a:pt x="21600" y="3600"/>
                </a:lnTo>
                <a:arcTo wR="3600" hR="3600" stAng="0" swAng="-5400000"/>
                <a:close/>
              </a:path>
            </a:pathLst>
          </a:cu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115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300" b="0" u="none" strike="noStrike">
                <a:solidFill>
                  <a:srgbClr val="FFFFFF"/>
                </a:solidFill>
                <a:effectLst/>
                <a:uFillTx/>
                <a:latin typeface="Bahnschrift SemiLight"/>
              </a:rPr>
              <a:t>Gráficos para el análisis de la relación entre la target (satisfacción general en la vida) y las variables sociodemográficas: edad, sexo, territorio de residencia, nacionalidad,...</a:t>
            </a:r>
            <a:endParaRPr lang="es-ES" sz="1300" b="0" u="none" strike="noStrike">
              <a:solidFill>
                <a:srgbClr val="000000"/>
              </a:solidFill>
              <a:effectLst/>
              <a:uFillTx/>
              <a:latin typeface="Arial"/>
            </a:endParaRPr>
          </a:p>
        </p:txBody>
      </p:sp>
      <p:pic>
        <p:nvPicPr>
          <p:cNvPr id="78" name=""/>
          <p:cNvPicPr/>
          <p:nvPr/>
        </p:nvPicPr>
        <p:blipFill>
          <a:blip r:embed="rId2"/>
          <a:stretch/>
        </p:blipFill>
        <p:spPr>
          <a:xfrm>
            <a:off x="3060720" y="1127160"/>
            <a:ext cx="6019920" cy="3733920"/>
          </a:xfrm>
          <a:prstGeom prst="rect">
            <a:avLst/>
          </a:prstGeom>
          <a:noFill/>
          <a:ln w="9360">
            <a:solidFill>
              <a:srgbClr val="3465A4"/>
            </a:solidFill>
            <a:round/>
          </a:ln>
          <a:effectLst>
            <a:outerShdw dist="101823" dir="2700000" rotWithShape="0">
              <a:srgbClr val="5983B0">
                <a:alpha val="70000"/>
              </a:srgbClr>
            </a:outerShdw>
          </a:effectLst>
        </p:spPr>
      </p:pic>
    </p:spTree>
  </p:cSld>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9" name=""/>
          <p:cNvPicPr/>
          <p:nvPr/>
        </p:nvPicPr>
        <p:blipFill>
          <a:blip r:embed="rId1"/>
          <a:stretch/>
        </p:blipFill>
        <p:spPr>
          <a:xfrm>
            <a:off x="179280" y="147600"/>
            <a:ext cx="9720360" cy="5443560"/>
          </a:xfrm>
          <a:prstGeom prst="rect">
            <a:avLst/>
          </a:prstGeom>
          <a:noFill/>
          <a:ln w="0">
            <a:noFill/>
          </a:ln>
        </p:spPr>
      </p:pic>
      <p:sp>
        <p:nvSpPr>
          <p:cNvPr id="80"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81"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3. Análisis del Dataset Original (v)</a:t>
            </a:r>
            <a:endParaRPr lang="es-ES" sz="2400" b="0" u="none" strike="noStrike">
              <a:solidFill>
                <a:srgbClr val="000000"/>
              </a:solidFill>
              <a:effectLst/>
              <a:uFillTx/>
              <a:latin typeface="Arial"/>
            </a:endParaRPr>
          </a:p>
        </p:txBody>
      </p:sp>
      <p:pic>
        <p:nvPicPr>
          <p:cNvPr id="82" name=""/>
          <p:cNvPicPr/>
          <p:nvPr/>
        </p:nvPicPr>
        <p:blipFill>
          <a:blip r:embed="rId2"/>
          <a:stretch/>
        </p:blipFill>
        <p:spPr>
          <a:xfrm>
            <a:off x="1079640" y="790560"/>
            <a:ext cx="3841560" cy="2160720"/>
          </a:xfrm>
          <a:prstGeom prst="rect">
            <a:avLst/>
          </a:prstGeom>
          <a:noFill/>
          <a:ln w="9360">
            <a:solidFill>
              <a:srgbClr val="3465A4"/>
            </a:solidFill>
            <a:round/>
          </a:ln>
          <a:effectLst>
            <a:outerShdw dist="101823" dir="2700000" rotWithShape="0">
              <a:srgbClr val="5983B0">
                <a:alpha val="70000"/>
              </a:srgbClr>
            </a:outerShdw>
          </a:effectLst>
        </p:spPr>
      </p:pic>
      <p:pic>
        <p:nvPicPr>
          <p:cNvPr id="83" name=""/>
          <p:cNvPicPr/>
          <p:nvPr/>
        </p:nvPicPr>
        <p:blipFill>
          <a:blip r:embed="rId3"/>
          <a:stretch/>
        </p:blipFill>
        <p:spPr>
          <a:xfrm>
            <a:off x="5303880" y="790560"/>
            <a:ext cx="3481200" cy="2160720"/>
          </a:xfrm>
          <a:prstGeom prst="rect">
            <a:avLst/>
          </a:prstGeom>
          <a:noFill/>
          <a:ln w="9360">
            <a:solidFill>
              <a:srgbClr val="3465A4"/>
            </a:solidFill>
            <a:round/>
          </a:ln>
          <a:effectLst>
            <a:outerShdw dist="101823" dir="2700000" rotWithShape="0">
              <a:srgbClr val="5983B0">
                <a:alpha val="70000"/>
              </a:srgbClr>
            </a:outerShdw>
          </a:effectLst>
        </p:spPr>
      </p:pic>
      <p:pic>
        <p:nvPicPr>
          <p:cNvPr id="84" name=""/>
          <p:cNvPicPr/>
          <p:nvPr/>
        </p:nvPicPr>
        <p:blipFill>
          <a:blip r:embed="rId4"/>
          <a:stretch/>
        </p:blipFill>
        <p:spPr>
          <a:xfrm>
            <a:off x="1249200" y="3060720"/>
            <a:ext cx="3502080" cy="2160720"/>
          </a:xfrm>
          <a:prstGeom prst="rect">
            <a:avLst/>
          </a:prstGeom>
          <a:noFill/>
          <a:ln w="9360">
            <a:solidFill>
              <a:srgbClr val="3465A4"/>
            </a:solidFill>
            <a:round/>
          </a:ln>
          <a:effectLst>
            <a:outerShdw dist="101823" dir="2700000" rotWithShape="0">
              <a:srgbClr val="5983B0">
                <a:alpha val="70000"/>
              </a:srgbClr>
            </a:outerShdw>
          </a:effectLst>
        </p:spPr>
      </p:pic>
      <p:pic>
        <p:nvPicPr>
          <p:cNvPr id="85" name=""/>
          <p:cNvPicPr/>
          <p:nvPr/>
        </p:nvPicPr>
        <p:blipFill>
          <a:blip r:embed="rId5"/>
          <a:stretch/>
        </p:blipFill>
        <p:spPr>
          <a:xfrm>
            <a:off x="5219640" y="3060720"/>
            <a:ext cx="3757680" cy="2160720"/>
          </a:xfrm>
          <a:prstGeom prst="rect">
            <a:avLst/>
          </a:prstGeom>
          <a:noFill/>
          <a:ln w="9360">
            <a:solidFill>
              <a:srgbClr val="3465A4"/>
            </a:solidFill>
            <a:round/>
          </a:ln>
          <a:effectLst>
            <a:outerShdw dist="101823" dir="2700000" rotWithShape="0">
              <a:srgbClr val="5983B0">
                <a:alpha val="70000"/>
              </a:srgbClr>
            </a:outerShdw>
          </a:effectLst>
        </p:spPr>
      </p:pic>
    </p:spTree>
  </p:cSld>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6" name=""/>
          <p:cNvPicPr/>
          <p:nvPr/>
        </p:nvPicPr>
        <p:blipFill>
          <a:blip r:embed="rId1"/>
          <a:stretch/>
        </p:blipFill>
        <p:spPr>
          <a:xfrm>
            <a:off x="179280" y="147600"/>
            <a:ext cx="9720360" cy="5443560"/>
          </a:xfrm>
          <a:prstGeom prst="rect">
            <a:avLst/>
          </a:prstGeom>
          <a:noFill/>
          <a:ln w="0">
            <a:noFill/>
          </a:ln>
        </p:spPr>
      </p:pic>
      <p:sp>
        <p:nvSpPr>
          <p:cNvPr id="87"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88"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4. Limpieza y Preparación de los Datos</a:t>
            </a:r>
            <a:endParaRPr lang="es-ES" sz="2400" b="0" u="none" strike="noStrike">
              <a:solidFill>
                <a:srgbClr val="000000"/>
              </a:solidFill>
              <a:effectLst/>
              <a:uFillTx/>
              <a:latin typeface="Arial"/>
            </a:endParaRPr>
          </a:p>
        </p:txBody>
      </p:sp>
      <p:sp>
        <p:nvSpPr>
          <p:cNvPr id="89" name=""/>
          <p:cNvSpPr/>
          <p:nvPr/>
        </p:nvSpPr>
        <p:spPr>
          <a:xfrm>
            <a:off x="736560" y="973080"/>
            <a:ext cx="8442360" cy="53820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Paso 1: Eliminación de Variables y Creación de Nuevo Dataframe </a:t>
            </a:r>
            <a:endParaRPr lang="es-ES" sz="1800" b="0" u="none" strike="noStrike">
              <a:solidFill>
                <a:srgbClr val="000000"/>
              </a:solidFill>
              <a:effectLst/>
              <a:uFillTx/>
              <a:latin typeface="Arial"/>
            </a:endParaRPr>
          </a:p>
        </p:txBody>
      </p:sp>
      <p:sp>
        <p:nvSpPr>
          <p:cNvPr id="90" name=""/>
          <p:cNvSpPr/>
          <p:nvPr/>
        </p:nvSpPr>
        <p:spPr>
          <a:xfrm>
            <a:off x="736560" y="1693800"/>
            <a:ext cx="8442360" cy="298620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es-ES" sz="1400" b="0" u="none" strike="noStrike">
              <a:solidFill>
                <a:srgbClr val="000000"/>
              </a:solidFill>
              <a:effectLst/>
              <a:uFillTx/>
              <a:latin typeface="Arial"/>
            </a:endParaRPr>
          </a:p>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400" b="1" u="none" strike="noStrike">
                <a:solidFill>
                  <a:srgbClr val="000000"/>
                </a:solidFill>
                <a:effectLst/>
                <a:uFillTx/>
                <a:latin typeface="Bahnschrift SemiLight"/>
              </a:rPr>
              <a:t>Eliminación de variables por:</a:t>
            </a:r>
            <a:endParaRPr lang="es-ES" sz="1400" b="0" u="none" strike="noStrike">
              <a:solidFill>
                <a:srgbClr val="000000"/>
              </a:solidFill>
              <a:effectLst/>
              <a:uFillTx/>
              <a:latin typeface="Arial"/>
            </a:endParaRPr>
          </a:p>
          <a:p>
            <a:pPr marL="144360">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400" b="1" u="none" strike="noStrike">
                <a:solidFill>
                  <a:srgbClr val="000000"/>
                </a:solidFill>
                <a:effectLst/>
                <a:uFillTx/>
                <a:latin typeface="Bahnschrift SemiLight"/>
              </a:rPr>
              <a:t>1. Ausencia de interés para el análisis (aenc, numc, nind, elep, capital, stiem2)</a:t>
            </a:r>
            <a:endParaRPr lang="es-ES" sz="1400" b="0" u="none" strike="noStrike">
              <a:solidFill>
                <a:srgbClr val="000000"/>
              </a:solidFill>
              <a:effectLst/>
              <a:uFillTx/>
              <a:latin typeface="Arial"/>
            </a:endParaRPr>
          </a:p>
          <a:p>
            <a:pPr marL="144360">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400" b="1" u="none" strike="noStrike">
                <a:solidFill>
                  <a:srgbClr val="000000"/>
                </a:solidFill>
                <a:effectLst/>
                <a:uFillTx/>
                <a:latin typeface="Bahnschrift SemiLight"/>
              </a:rPr>
              <a:t>2. Encontrarse vacías (nivi3)</a:t>
            </a:r>
            <a:endParaRPr lang="es-ES" sz="1400" b="0" u="none" strike="noStrike">
              <a:solidFill>
                <a:srgbClr val="000000"/>
              </a:solidFill>
              <a:effectLst/>
              <a:uFillTx/>
              <a:latin typeface="Arial"/>
            </a:endParaRPr>
          </a:p>
          <a:p>
            <a:pPr marL="144360">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400" b="1" u="none" strike="noStrike">
                <a:solidFill>
                  <a:srgbClr val="000000"/>
                </a:solidFill>
                <a:effectLst/>
                <a:uFillTx/>
                <a:latin typeface="Bahnschrift SemiLight"/>
              </a:rPr>
              <a:t>3. Estár incluidas/ser la base para el cálculo de otra variables de síntesis, por lo que resultarían redundantes (tipf, hablar, ayfam, tenso, moral, calma, depre, feliz, cpol, cjus, certz)</a:t>
            </a:r>
            <a:endParaRPr lang="es-ES" sz="1400" b="0" u="none" strike="noStrike">
              <a:solidFill>
                <a:srgbClr val="000000"/>
              </a:solidFill>
              <a:effectLst/>
              <a:uFillTx/>
              <a:latin typeface="Arial"/>
            </a:endParaRPr>
          </a:p>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400" b="1" u="none" strike="noStrike">
                <a:solidFill>
                  <a:srgbClr val="000000"/>
                </a:solidFill>
                <a:effectLst/>
                <a:uFillTx/>
                <a:latin typeface="Bahnschrift SemiLight"/>
              </a:rPr>
              <a:t>Se genera nuevo dataset de limpieza (df_limp)</a:t>
            </a:r>
            <a:endParaRPr lang="es-ES" sz="1400" b="0" u="none" strike="noStrike">
              <a:solidFill>
                <a:srgbClr val="000000"/>
              </a:solidFill>
              <a:effectLst/>
              <a:uFillTx/>
              <a:latin typeface="Arial"/>
            </a:endParaRPr>
          </a:p>
          <a:p>
            <a:pPr algn="ct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400" b="1" u="none" strike="noStrike">
                <a:solidFill>
                  <a:srgbClr val="000000"/>
                </a:solidFill>
                <a:effectLst/>
                <a:uFillTx/>
                <a:latin typeface="Bahnschrift SemiLight"/>
              </a:rPr>
              <a:t>Como resultado de esta primera limpieza quedan 27 variables (de las 45 originales).</a:t>
            </a:r>
            <a:endParaRPr lang="es-ES" sz="1400" b="0" u="none" strike="noStrike">
              <a:solidFill>
                <a:srgbClr val="000000"/>
              </a:solidFill>
              <a:effectLst/>
              <a:uFillTx/>
              <a:latin typeface="Arial"/>
            </a:endParaRPr>
          </a:p>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 </a:t>
            </a:r>
            <a:endParaRPr lang="es-ES" sz="1800" b="0" u="none" strike="noStrike">
              <a:solidFill>
                <a:srgbClr val="000000"/>
              </a:solidFill>
              <a:effectLst/>
              <a:uFillTx/>
              <a:latin typeface="Arial"/>
            </a:endParaRPr>
          </a:p>
        </p:txBody>
      </p:sp>
    </p:spTree>
  </p:cSld>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1" name=""/>
          <p:cNvPicPr/>
          <p:nvPr/>
        </p:nvPicPr>
        <p:blipFill>
          <a:blip r:embed="rId1"/>
          <a:stretch/>
        </p:blipFill>
        <p:spPr>
          <a:xfrm>
            <a:off x="179280" y="147600"/>
            <a:ext cx="9720360" cy="5443560"/>
          </a:xfrm>
          <a:prstGeom prst="rect">
            <a:avLst/>
          </a:prstGeom>
          <a:noFill/>
          <a:ln w="0">
            <a:noFill/>
          </a:ln>
        </p:spPr>
      </p:pic>
      <p:sp>
        <p:nvSpPr>
          <p:cNvPr id="92"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93"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4. Limpieza y Preparación de los Datos (ii)</a:t>
            </a:r>
            <a:endParaRPr lang="es-ES" sz="2400" b="0" u="none" strike="noStrike">
              <a:solidFill>
                <a:srgbClr val="000000"/>
              </a:solidFill>
              <a:effectLst/>
              <a:uFillTx/>
              <a:latin typeface="Arial"/>
            </a:endParaRPr>
          </a:p>
        </p:txBody>
      </p:sp>
      <p:sp>
        <p:nvSpPr>
          <p:cNvPr id="94" name=""/>
          <p:cNvSpPr/>
          <p:nvPr/>
        </p:nvSpPr>
        <p:spPr>
          <a:xfrm>
            <a:off x="736560" y="973080"/>
            <a:ext cx="8442360" cy="53820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Paso 2: Reetiquetado de Variables</a:t>
            </a:r>
            <a:endParaRPr lang="es-ES" sz="1800" b="0" u="none" strike="noStrike">
              <a:solidFill>
                <a:srgbClr val="000000"/>
              </a:solidFill>
              <a:effectLst/>
              <a:uFillTx/>
              <a:latin typeface="Arial"/>
            </a:endParaRPr>
          </a:p>
        </p:txBody>
      </p:sp>
      <p:sp>
        <p:nvSpPr>
          <p:cNvPr id="95" name=""/>
          <p:cNvSpPr/>
          <p:nvPr/>
        </p:nvSpPr>
        <p:spPr>
          <a:xfrm>
            <a:off x="736560" y="1585800"/>
            <a:ext cx="8442360" cy="100656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400" b="1" u="none" strike="noStrike">
                <a:solidFill>
                  <a:srgbClr val="000000"/>
                </a:solidFill>
                <a:effectLst/>
                <a:uFillTx/>
                <a:latin typeface="Bahnschrift SemiLight"/>
              </a:rPr>
              <a:t>Procedo a reetiquetar las variables para saber de qué estamos hablando: renombro las variables utilizando etiquetas descriptivas  con el objetivo de facilitar la interpretación del análisis exploratorio, los modelos y los resultados finales obtenidos.</a:t>
            </a:r>
            <a:endParaRPr lang="es-ES" sz="1400" b="0" u="none" strike="noStrike">
              <a:solidFill>
                <a:srgbClr val="000000"/>
              </a:solidFill>
              <a:effectLst/>
              <a:uFillTx/>
              <a:latin typeface="Arial"/>
            </a:endParaRPr>
          </a:p>
        </p:txBody>
      </p:sp>
      <p:sp>
        <p:nvSpPr>
          <p:cNvPr id="96" name=""/>
          <p:cNvSpPr/>
          <p:nvPr/>
        </p:nvSpPr>
        <p:spPr>
          <a:xfrm>
            <a:off x="736560" y="2954160"/>
            <a:ext cx="8442360" cy="53820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Paso 3: Sustitución de valor 97 (no procede) por nulos en variable</a:t>
            </a:r>
            <a:r>
              <a:rPr lang="es-ES" sz="1800" b="0" i="1" u="none" strike="noStrike">
                <a:solidFill>
                  <a:srgbClr val="FFFFFF"/>
                </a:solidFill>
                <a:effectLst/>
                <a:uFillTx/>
                <a:latin typeface="Bahnschrift SemiLight"/>
              </a:rPr>
              <a:t> satisf_trabajo</a:t>
            </a:r>
            <a:endParaRPr lang="es-ES" sz="1800" b="0" u="none" strike="noStrike">
              <a:solidFill>
                <a:srgbClr val="000000"/>
              </a:solidFill>
              <a:effectLst/>
              <a:uFillTx/>
              <a:latin typeface="Arial"/>
            </a:endParaRPr>
          </a:p>
        </p:txBody>
      </p:sp>
      <p:sp>
        <p:nvSpPr>
          <p:cNvPr id="97" name=""/>
          <p:cNvSpPr/>
          <p:nvPr/>
        </p:nvSpPr>
        <p:spPr>
          <a:xfrm>
            <a:off x="736560" y="3567240"/>
            <a:ext cx="8442360" cy="100620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250"/>
              </a:spcBef>
              <a:spcAft>
                <a:spcPts val="1049"/>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400" b="1" u="none" strike="noStrike">
                <a:solidFill>
                  <a:srgbClr val="000000"/>
                </a:solidFill>
                <a:effectLst/>
                <a:uFillTx/>
                <a:latin typeface="Bahnschrift SemiLight"/>
              </a:rPr>
              <a:t>Se ha identificado un código especial (97) en la variable Satisf_trabajo correspondiente a respuestas no aplicables y presente en más de la mitad de los registros (2.816 de 5.284), que deberá ser tratado antes de la fase de modelado. Momentáneamente sustituyo el 97 (no procede) por nulo. </a:t>
            </a:r>
            <a:endParaRPr lang="es-ES" sz="1400" b="0" u="none" strike="noStrike">
              <a:solidFill>
                <a:srgbClr val="000000"/>
              </a:solidFill>
              <a:effectLst/>
              <a:uFillTx/>
              <a:latin typeface="Arial"/>
            </a:endParaRPr>
          </a:p>
        </p:txBody>
      </p:sp>
    </p:spTree>
  </p:cSld>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8" name=""/>
          <p:cNvPicPr/>
          <p:nvPr/>
        </p:nvPicPr>
        <p:blipFill>
          <a:blip r:embed="rId1"/>
          <a:stretch/>
        </p:blipFill>
        <p:spPr>
          <a:xfrm>
            <a:off x="179280" y="147600"/>
            <a:ext cx="9720360" cy="5443560"/>
          </a:xfrm>
          <a:prstGeom prst="rect">
            <a:avLst/>
          </a:prstGeom>
          <a:noFill/>
          <a:ln w="0">
            <a:noFill/>
          </a:ln>
        </p:spPr>
      </p:pic>
      <p:sp>
        <p:nvSpPr>
          <p:cNvPr id="99"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100"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4. Limpieza y Preparación de los Datos (iii)</a:t>
            </a:r>
            <a:endParaRPr lang="es-ES" sz="2400" b="0" u="none" strike="noStrike">
              <a:solidFill>
                <a:srgbClr val="000000"/>
              </a:solidFill>
              <a:effectLst/>
              <a:uFillTx/>
              <a:latin typeface="Arial"/>
            </a:endParaRPr>
          </a:p>
        </p:txBody>
      </p:sp>
      <p:sp>
        <p:nvSpPr>
          <p:cNvPr id="101" name=""/>
          <p:cNvSpPr/>
          <p:nvPr/>
        </p:nvSpPr>
        <p:spPr>
          <a:xfrm>
            <a:off x="736560" y="973080"/>
            <a:ext cx="8442360" cy="53820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Paso 4: Inversión  del sentido de la respuesta en algunas variables</a:t>
            </a:r>
            <a:endParaRPr lang="es-ES" sz="1800" b="0" u="none" strike="noStrike">
              <a:solidFill>
                <a:srgbClr val="000000"/>
              </a:solidFill>
              <a:effectLst/>
              <a:uFillTx/>
              <a:latin typeface="Arial"/>
            </a:endParaRPr>
          </a:p>
        </p:txBody>
      </p:sp>
      <p:sp>
        <p:nvSpPr>
          <p:cNvPr id="102" name=""/>
          <p:cNvSpPr/>
          <p:nvPr/>
        </p:nvSpPr>
        <p:spPr>
          <a:xfrm>
            <a:off x="736560" y="1585800"/>
            <a:ext cx="8442360" cy="183384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400" b="1" u="none" strike="noStrike">
                <a:solidFill>
                  <a:srgbClr val="000000"/>
                </a:solidFill>
                <a:effectLst/>
                <a:uFillTx/>
                <a:latin typeface="Bahnschrift SemiLight"/>
              </a:rPr>
              <a:t>Hay algunas variables cuyas respuestas siguen un sentido inverso a las valoraciones de satisfacción y confianza sobre las que va a trabajar el modelo, que pueden complicar la interpretación de los datos.</a:t>
            </a:r>
            <a:endParaRPr lang="es-ES" sz="1400" b="0" u="none" strike="noStrike">
              <a:solidFill>
                <a:srgbClr val="000000"/>
              </a:solidFill>
              <a:effectLst/>
              <a:uFillTx/>
              <a:latin typeface="Arial"/>
            </a:endParaRPr>
          </a:p>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400" b="1" u="none" strike="noStrike">
                <a:solidFill>
                  <a:srgbClr val="000000"/>
                </a:solidFill>
                <a:effectLst/>
                <a:uFillTx/>
                <a:latin typeface="Bahnschrift SemiLight"/>
              </a:rPr>
              <a:t>Se invierte el sentido de estas variables para facilitar la comprensión y el análisis, así como la construcción del propio modelo. Se lleva el valor a  0.</a:t>
            </a:r>
            <a:endParaRPr lang="es-ES" sz="1400" b="0" u="none" strike="noStrike">
              <a:solidFill>
                <a:srgbClr val="000000"/>
              </a:solidFill>
              <a:effectLst/>
              <a:uFillTx/>
              <a:latin typeface="Arial"/>
            </a:endParaRPr>
          </a:p>
          <a:p>
            <a:pPr>
              <a:lnSpc>
                <a:spcPct val="93000"/>
              </a:lnSpc>
              <a:spcBef>
                <a:spcPts val="1250"/>
              </a:spcBef>
              <a:spcAft>
                <a:spcPts val="1049"/>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400" b="1" u="none" strike="noStrike">
                <a:solidFill>
                  <a:srgbClr val="000000"/>
                </a:solidFill>
                <a:effectLst/>
                <a:uFillTx/>
                <a:latin typeface="Bahnschrift SemiLight"/>
                <a:ea typeface="Microsoft YaHei"/>
              </a:rPr>
              <a:t>Las variables son: </a:t>
            </a:r>
            <a:r>
              <a:rPr lang="es-ES" sz="1400" b="1" u="none" strike="noStrike">
                <a:solidFill>
                  <a:srgbClr val="000000"/>
                </a:solidFill>
                <a:effectLst/>
                <a:uFillTx/>
                <a:latin typeface="Bahnschrift SemiLight"/>
              </a:rPr>
              <a:t> 'Sensacion_seguridad_zona', 'Salud_percibida', 'Intensidad_relac_fam'</a:t>
            </a:r>
            <a:endParaRPr lang="es-ES" sz="1400" b="0" u="none" strike="noStrike">
              <a:solidFill>
                <a:srgbClr val="000000"/>
              </a:solidFill>
              <a:effectLst/>
              <a:uFillTx/>
              <a:latin typeface="Arial"/>
            </a:endParaRPr>
          </a:p>
        </p:txBody>
      </p:sp>
      <p:pic>
        <p:nvPicPr>
          <p:cNvPr id="103" name=""/>
          <p:cNvPicPr/>
          <p:nvPr/>
        </p:nvPicPr>
        <p:blipFill>
          <a:blip r:embed="rId2"/>
          <a:stretch/>
        </p:blipFill>
        <p:spPr>
          <a:xfrm>
            <a:off x="2268360" y="3571920"/>
            <a:ext cx="1979640" cy="1649520"/>
          </a:xfrm>
          <a:prstGeom prst="rect">
            <a:avLst/>
          </a:prstGeom>
          <a:noFill/>
          <a:ln w="9360">
            <a:solidFill>
              <a:srgbClr val="3465A4"/>
            </a:solidFill>
            <a:round/>
          </a:ln>
          <a:effectLst>
            <a:outerShdw dist="101823" dir="2700000" rotWithShape="0">
              <a:srgbClr val="5983B0">
                <a:alpha val="70000"/>
              </a:srgbClr>
            </a:outerShdw>
          </a:effectLst>
        </p:spPr>
      </p:pic>
      <p:pic>
        <p:nvPicPr>
          <p:cNvPr id="104" name=""/>
          <p:cNvPicPr/>
          <p:nvPr/>
        </p:nvPicPr>
        <p:blipFill>
          <a:blip r:embed="rId3"/>
          <a:stretch/>
        </p:blipFill>
        <p:spPr>
          <a:xfrm>
            <a:off x="5148360" y="3602160"/>
            <a:ext cx="1985760" cy="1619280"/>
          </a:xfrm>
          <a:prstGeom prst="rect">
            <a:avLst/>
          </a:prstGeom>
          <a:noFill/>
          <a:ln w="9360">
            <a:solidFill>
              <a:srgbClr val="3465A4"/>
            </a:solidFill>
            <a:round/>
          </a:ln>
          <a:effectLst>
            <a:outerShdw dist="101823" dir="2700000" rotWithShape="0">
              <a:srgbClr val="5983B0">
                <a:alpha val="70000"/>
              </a:srgbClr>
            </a:outerShdw>
          </a:effectLst>
        </p:spPr>
      </p:pic>
      <p:sp>
        <p:nvSpPr>
          <p:cNvPr id="105" name=""/>
          <p:cNvSpPr/>
          <p:nvPr/>
        </p:nvSpPr>
        <p:spPr>
          <a:xfrm>
            <a:off x="4357800" y="4319640"/>
            <a:ext cx="682560" cy="360360"/>
          </a:xfrm>
          <a:prstGeom prst="rightArrow">
            <a:avLst>
              <a:gd name="adj1" fmla="val 50000"/>
              <a:gd name="adj2" fmla="val 47353"/>
            </a:avLst>
          </a:prstGeom>
          <a:solidFill>
            <a:srgbClr val="729FCF"/>
          </a:solidFill>
          <a:ln w="9360">
            <a:solidFill>
              <a:srgbClr val="3465A4"/>
            </a:solidFill>
            <a:round/>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Tree>
  </p:cSld>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6" name=""/>
          <p:cNvPicPr/>
          <p:nvPr/>
        </p:nvPicPr>
        <p:blipFill>
          <a:blip r:embed="rId1"/>
          <a:stretch/>
        </p:blipFill>
        <p:spPr>
          <a:xfrm>
            <a:off x="179280" y="147600"/>
            <a:ext cx="9720360" cy="5443560"/>
          </a:xfrm>
          <a:prstGeom prst="rect">
            <a:avLst/>
          </a:prstGeom>
          <a:noFill/>
          <a:ln w="0">
            <a:noFill/>
          </a:ln>
        </p:spPr>
      </p:pic>
      <p:sp>
        <p:nvSpPr>
          <p:cNvPr id="107"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108"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5. Selección de Variables para el Modelo</a:t>
            </a:r>
            <a:endParaRPr lang="es-ES" sz="2400" b="0" u="none" strike="noStrike">
              <a:solidFill>
                <a:srgbClr val="000000"/>
              </a:solidFill>
              <a:effectLst/>
              <a:uFillTx/>
              <a:latin typeface="Arial"/>
            </a:endParaRPr>
          </a:p>
        </p:txBody>
      </p:sp>
      <p:sp>
        <p:nvSpPr>
          <p:cNvPr id="109" name=""/>
          <p:cNvSpPr/>
          <p:nvPr/>
        </p:nvSpPr>
        <p:spPr>
          <a:xfrm>
            <a:off x="736560" y="793800"/>
            <a:ext cx="8442360" cy="46512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Paso 1: Análisis de la relación entre todas las variables - Heatmap</a:t>
            </a:r>
            <a:endParaRPr lang="es-ES" sz="1800" b="0" u="none" strike="noStrike">
              <a:solidFill>
                <a:srgbClr val="000000"/>
              </a:solidFill>
              <a:effectLst/>
              <a:uFillTx/>
              <a:latin typeface="Arial"/>
            </a:endParaRPr>
          </a:p>
        </p:txBody>
      </p:sp>
      <p:pic>
        <p:nvPicPr>
          <p:cNvPr id="110" name=""/>
          <p:cNvPicPr/>
          <p:nvPr/>
        </p:nvPicPr>
        <p:blipFill>
          <a:blip r:embed="rId2"/>
          <a:stretch/>
        </p:blipFill>
        <p:spPr>
          <a:xfrm>
            <a:off x="828720" y="1338120"/>
            <a:ext cx="4319640" cy="3845160"/>
          </a:xfrm>
          <a:prstGeom prst="rect">
            <a:avLst/>
          </a:prstGeom>
          <a:noFill/>
          <a:ln w="9360">
            <a:solidFill>
              <a:srgbClr val="3465A4"/>
            </a:solidFill>
            <a:round/>
          </a:ln>
          <a:effectLst>
            <a:outerShdw dist="101823" dir="2700000" rotWithShape="0">
              <a:srgbClr val="5983B0">
                <a:alpha val="70000"/>
              </a:srgbClr>
            </a:outerShdw>
          </a:effectLst>
        </p:spPr>
      </p:pic>
      <p:sp>
        <p:nvSpPr>
          <p:cNvPr id="111" name=""/>
          <p:cNvSpPr/>
          <p:nvPr/>
        </p:nvSpPr>
        <p:spPr>
          <a:xfrm>
            <a:off x="5886360" y="1468440"/>
            <a:ext cx="3294000" cy="159228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600" b="0" u="none" strike="noStrike">
                <a:solidFill>
                  <a:srgbClr val="FFFFFF"/>
                </a:solidFill>
                <a:effectLst/>
                <a:uFillTx/>
                <a:latin typeface="Bahnschrift SemiLight"/>
              </a:rPr>
              <a:t>Las correlaciones más fuertes se produce entre las </a:t>
            </a:r>
            <a:r>
              <a:rPr lang="es-ES" sz="1600" b="0" u="sng" strike="noStrike">
                <a:solidFill>
                  <a:srgbClr val="FFFFFF"/>
                </a:solidFill>
                <a:effectLst/>
                <a:uFillTx/>
                <a:latin typeface="Bahnschrift SemiLight"/>
              </a:rPr>
              <a:t>variables de valoración</a:t>
            </a:r>
            <a:r>
              <a:rPr lang="es-ES" sz="1600" b="0" u="none" strike="noStrike">
                <a:solidFill>
                  <a:srgbClr val="FFFFFF"/>
                </a:solidFill>
                <a:effectLst/>
                <a:uFillTx/>
                <a:latin typeface="Bahnschrift SemiLight"/>
              </a:rPr>
              <a:t>: grado de satisfacción con diferentes aspectos de la vida,  nivel de confianza, estado de ánimo,...</a:t>
            </a:r>
            <a:endParaRPr lang="es-ES" sz="1600" b="0" u="none" strike="noStrike">
              <a:solidFill>
                <a:srgbClr val="000000"/>
              </a:solidFill>
              <a:effectLst/>
              <a:uFillTx/>
              <a:latin typeface="Arial"/>
            </a:endParaRPr>
          </a:p>
        </p:txBody>
      </p:sp>
      <p:sp>
        <p:nvSpPr>
          <p:cNvPr id="112" name=""/>
          <p:cNvSpPr/>
          <p:nvPr/>
        </p:nvSpPr>
        <p:spPr>
          <a:xfrm>
            <a:off x="2340000" y="2347920"/>
            <a:ext cx="2298600" cy="2151000"/>
          </a:xfrm>
          <a:prstGeom prst="rect">
            <a:avLst/>
          </a:prstGeom>
          <a:noFill/>
          <a:ln w="9360">
            <a:solidFill>
              <a:srgbClr val="3465A4"/>
            </a:solidFill>
            <a:round/>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
        <p:nvSpPr>
          <p:cNvPr id="113" name=""/>
          <p:cNvSpPr/>
          <p:nvPr/>
        </p:nvSpPr>
        <p:spPr>
          <a:xfrm flipV="1">
            <a:off x="4638600" y="1806480"/>
            <a:ext cx="1246320" cy="547920"/>
          </a:xfrm>
          <a:prstGeom prst="line">
            <a:avLst/>
          </a:prstGeom>
          <a:ln w="9360">
            <a:solidFill>
              <a:srgbClr val="3465A4"/>
            </a:solidFill>
            <a:round/>
          </a:ln>
        </p:spPr>
        <p:style>
          <a:lnRef idx="0"/>
          <a:fillRef idx="0"/>
          <a:effectRef idx="0"/>
          <a:fontRef idx="minor"/>
        </p:style>
        <p:txBody>
          <a:bodyPr lIns="90000" tIns="46800" rIns="90000" bIns="46800" anchor="t">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
        <p:nvSpPr>
          <p:cNvPr id="114" name=""/>
          <p:cNvSpPr/>
          <p:nvPr/>
        </p:nvSpPr>
        <p:spPr>
          <a:xfrm>
            <a:off x="5940360" y="3267000"/>
            <a:ext cx="3294000" cy="159228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600" b="0" u="none" strike="noStrike">
                <a:solidFill>
                  <a:srgbClr val="FFFFFF"/>
                </a:solidFill>
                <a:effectLst/>
                <a:uFillTx/>
                <a:latin typeface="Bahnschrift SemiLight"/>
              </a:rPr>
              <a:t>Las </a:t>
            </a:r>
            <a:r>
              <a:rPr lang="es-ES" sz="1600" b="0" u="sng" strike="noStrike">
                <a:solidFill>
                  <a:srgbClr val="FFFFFF"/>
                </a:solidFill>
                <a:effectLst/>
                <a:uFillTx/>
                <a:latin typeface="Bahnschrift SemiLight"/>
              </a:rPr>
              <a:t>variables demográficas</a:t>
            </a:r>
            <a:r>
              <a:rPr lang="es-ES" sz="1600" b="0" u="none" strike="noStrike">
                <a:solidFill>
                  <a:srgbClr val="FFFFFF"/>
                </a:solidFill>
                <a:effectLst/>
                <a:uFillTx/>
                <a:latin typeface="Bahnschrift SemiLight"/>
              </a:rPr>
              <a:t> presentan menor grado de correlación, lo que refuerza la idea inicial de reservarlas para el análisis posterior.</a:t>
            </a:r>
            <a:endParaRPr lang="es-ES" sz="1600" b="0" u="none" strike="noStrike">
              <a:solidFill>
                <a:srgbClr val="000000"/>
              </a:solidFill>
              <a:effectLst/>
              <a:uFillTx/>
              <a:latin typeface="Arial"/>
            </a:endParaRPr>
          </a:p>
        </p:txBody>
      </p:sp>
    </p:spTree>
  </p:cSld>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5" name=""/>
          <p:cNvPicPr/>
          <p:nvPr/>
        </p:nvPicPr>
        <p:blipFill>
          <a:blip r:embed="rId1"/>
          <a:stretch/>
        </p:blipFill>
        <p:spPr>
          <a:xfrm>
            <a:off x="179280" y="147600"/>
            <a:ext cx="9720360" cy="5443560"/>
          </a:xfrm>
          <a:prstGeom prst="rect">
            <a:avLst/>
          </a:prstGeom>
          <a:noFill/>
          <a:ln w="0">
            <a:noFill/>
          </a:ln>
        </p:spPr>
      </p:pic>
      <p:sp>
        <p:nvSpPr>
          <p:cNvPr id="116"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117"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5. Selección de Variables para el Modelo (ii)</a:t>
            </a:r>
            <a:endParaRPr lang="es-ES" sz="2400" b="0" u="none" strike="noStrike">
              <a:solidFill>
                <a:srgbClr val="000000"/>
              </a:solidFill>
              <a:effectLst/>
              <a:uFillTx/>
              <a:latin typeface="Arial"/>
            </a:endParaRPr>
          </a:p>
        </p:txBody>
      </p:sp>
      <p:sp>
        <p:nvSpPr>
          <p:cNvPr id="118" name=""/>
          <p:cNvSpPr/>
          <p:nvPr/>
        </p:nvSpPr>
        <p:spPr>
          <a:xfrm>
            <a:off x="736560" y="793800"/>
            <a:ext cx="8442360" cy="28584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Paso 2: Análisis de la relación de la target con el resto de variables</a:t>
            </a:r>
            <a:endParaRPr lang="es-ES" sz="1800" b="0" u="none" strike="noStrike">
              <a:solidFill>
                <a:srgbClr val="000000"/>
              </a:solidFill>
              <a:effectLst/>
              <a:uFillTx/>
              <a:latin typeface="Arial"/>
            </a:endParaRPr>
          </a:p>
        </p:txBody>
      </p:sp>
      <p:sp>
        <p:nvSpPr>
          <p:cNvPr id="119" name=""/>
          <p:cNvSpPr/>
          <p:nvPr/>
        </p:nvSpPr>
        <p:spPr>
          <a:xfrm>
            <a:off x="2446200" y="-231840"/>
            <a:ext cx="7272360" cy="23184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250"/>
              </a:spcBef>
              <a:spcAft>
                <a:spcPts val="1049"/>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000" b="0" u="none" strike="noStrike">
                <a:solidFill>
                  <a:srgbClr val="000000"/>
                </a:solidFill>
                <a:effectLst/>
                <a:uFillTx/>
                <a:latin typeface="Arial"/>
              </a:rPr>
              <a:t>ANÁLISIS DE LA RELACIÓN DE LA TARGET (SATISFACCIÓN GENERAL CON LA VIDA) CON EL RESTO DE VARIABLES </a:t>
            </a:r>
            <a:endParaRPr lang="es-ES" sz="1000" b="0" u="none" strike="noStrike">
              <a:solidFill>
                <a:srgbClr val="000000"/>
              </a:solidFill>
              <a:effectLst/>
              <a:uFillTx/>
              <a:latin typeface="Arial"/>
            </a:endParaRPr>
          </a:p>
        </p:txBody>
      </p:sp>
      <p:pic>
        <p:nvPicPr>
          <p:cNvPr id="120" name=""/>
          <p:cNvPicPr/>
          <p:nvPr/>
        </p:nvPicPr>
        <p:blipFill>
          <a:blip r:embed="rId2"/>
          <a:stretch/>
        </p:blipFill>
        <p:spPr>
          <a:xfrm>
            <a:off x="971640" y="1116000"/>
            <a:ext cx="5153040" cy="4113360"/>
          </a:xfrm>
          <a:prstGeom prst="rect">
            <a:avLst/>
          </a:prstGeom>
          <a:noFill/>
          <a:ln w="9360">
            <a:solidFill>
              <a:srgbClr val="3465A4"/>
            </a:solidFill>
            <a:round/>
          </a:ln>
          <a:effectLst>
            <a:outerShdw dist="101823" dir="2700000" rotWithShape="0">
              <a:srgbClr val="5983B0">
                <a:alpha val="70000"/>
              </a:srgbClr>
            </a:outerShdw>
          </a:effectLst>
        </p:spPr>
      </p:pic>
      <p:sp>
        <p:nvSpPr>
          <p:cNvPr id="121" name=""/>
          <p:cNvSpPr/>
          <p:nvPr/>
        </p:nvSpPr>
        <p:spPr>
          <a:xfrm>
            <a:off x="7020000" y="1368360"/>
            <a:ext cx="1568520" cy="539640"/>
          </a:xfrm>
          <a:prstGeom prst="roundRect">
            <a:avLst>
              <a:gd name="adj" fmla="val 16667"/>
            </a:avLst>
          </a:prstGeom>
          <a:solidFill>
            <a:srgbClr val="4682B4"/>
          </a:solidFill>
          <a:ln w="9360">
            <a:solidFill>
              <a:srgbClr val="3465A4"/>
            </a:solidFill>
            <a:round/>
          </a:ln>
        </p:spPr>
        <p:style>
          <a:lnRef idx="0"/>
          <a:fillRef idx="0"/>
          <a:effectRef idx="0"/>
          <a:fontRef idx="minor"/>
        </p:style>
        <p:txBody>
          <a:bodyPr lIns="90000" tIns="45000" rIns="90000" bIns="45000" anchor="ctr">
            <a:noAutofit/>
          </a:bodyPr>
          <a:p>
            <a:pPr>
              <a:lnSpc>
                <a:spcPct val="115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100" b="0" u="none" strike="noStrike">
                <a:solidFill>
                  <a:srgbClr val="FFFFFF"/>
                </a:solidFill>
                <a:effectLst/>
                <a:uFillTx/>
                <a:latin typeface="Bahnschrift SemiLight"/>
              </a:rPr>
              <a:t>Correlación alta  &gt;0,50</a:t>
            </a:r>
            <a:endParaRPr lang="es-ES" sz="1100" b="0" u="none" strike="noStrike">
              <a:solidFill>
                <a:srgbClr val="000000"/>
              </a:solidFill>
              <a:effectLst/>
              <a:uFillTx/>
              <a:latin typeface="Arial"/>
            </a:endParaRPr>
          </a:p>
        </p:txBody>
      </p:sp>
      <p:sp>
        <p:nvSpPr>
          <p:cNvPr id="122" name=""/>
          <p:cNvSpPr/>
          <p:nvPr/>
        </p:nvSpPr>
        <p:spPr>
          <a:xfrm>
            <a:off x="7020000" y="2376360"/>
            <a:ext cx="1568520" cy="540000"/>
          </a:xfrm>
          <a:prstGeom prst="roundRect">
            <a:avLst>
              <a:gd name="adj" fmla="val 16667"/>
            </a:avLst>
          </a:prstGeom>
          <a:solidFill>
            <a:srgbClr val="87CEEB"/>
          </a:solidFill>
          <a:ln w="9360">
            <a:solidFill>
              <a:srgbClr val="3465A4"/>
            </a:solidFill>
            <a:round/>
          </a:ln>
        </p:spPr>
        <p:style>
          <a:lnRef idx="0"/>
          <a:fillRef idx="0"/>
          <a:effectRef idx="0"/>
          <a:fontRef idx="minor"/>
        </p:style>
        <p:txBody>
          <a:bodyPr lIns="90000" tIns="45000" rIns="90000" bIns="45000" anchor="ctr">
            <a:noAutofit/>
          </a:bodyPr>
          <a:p>
            <a:pPr>
              <a:lnSpc>
                <a:spcPct val="115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100" b="0" u="none" strike="noStrike">
                <a:solidFill>
                  <a:srgbClr val="FFFFFF"/>
                </a:solidFill>
                <a:effectLst/>
                <a:uFillTx/>
                <a:latin typeface="Bahnschrift SemiLight"/>
              </a:rPr>
              <a:t>Correlación moderada  0,3-0,5</a:t>
            </a:r>
            <a:endParaRPr lang="es-ES" sz="1100" b="0" u="none" strike="noStrike">
              <a:solidFill>
                <a:srgbClr val="000000"/>
              </a:solidFill>
              <a:effectLst/>
              <a:uFillTx/>
              <a:latin typeface="Arial"/>
            </a:endParaRPr>
          </a:p>
        </p:txBody>
      </p:sp>
      <p:sp>
        <p:nvSpPr>
          <p:cNvPr id="123" name=""/>
          <p:cNvSpPr/>
          <p:nvPr/>
        </p:nvSpPr>
        <p:spPr>
          <a:xfrm>
            <a:off x="7020000" y="3384720"/>
            <a:ext cx="1568520" cy="539640"/>
          </a:xfrm>
          <a:prstGeom prst="roundRect">
            <a:avLst>
              <a:gd name="adj" fmla="val 16667"/>
            </a:avLst>
          </a:prstGeom>
          <a:solidFill>
            <a:srgbClr val="D9EAF4"/>
          </a:solidFill>
          <a:ln w="9360">
            <a:solidFill>
              <a:srgbClr val="3465A4"/>
            </a:solidFill>
            <a:round/>
          </a:ln>
        </p:spPr>
        <p:style>
          <a:lnRef idx="0"/>
          <a:fillRef idx="0"/>
          <a:effectRef idx="0"/>
          <a:fontRef idx="minor"/>
        </p:style>
        <p:txBody>
          <a:bodyPr lIns="90000" tIns="45000" rIns="90000" bIns="45000" anchor="ctr">
            <a:noAutofit/>
          </a:bodyPr>
          <a:p>
            <a:pPr>
              <a:lnSpc>
                <a:spcPct val="115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100" b="0" u="none" strike="noStrike">
                <a:solidFill>
                  <a:srgbClr val="000000"/>
                </a:solidFill>
                <a:effectLst/>
                <a:uFillTx/>
                <a:latin typeface="Bahnschrift SemiLight"/>
              </a:rPr>
              <a:t>Correlación débil  0,3-0,5</a:t>
            </a:r>
            <a:endParaRPr lang="es-ES" sz="1100" b="0" u="none" strike="noStrike">
              <a:solidFill>
                <a:srgbClr val="000000"/>
              </a:solidFill>
              <a:effectLst/>
              <a:uFillTx/>
              <a:latin typeface="Arial"/>
            </a:endParaRPr>
          </a:p>
        </p:txBody>
      </p:sp>
      <p:sp>
        <p:nvSpPr>
          <p:cNvPr id="124" name=""/>
          <p:cNvSpPr/>
          <p:nvPr/>
        </p:nvSpPr>
        <p:spPr>
          <a:xfrm>
            <a:off x="7020000" y="4319640"/>
            <a:ext cx="1568520" cy="539640"/>
          </a:xfrm>
          <a:prstGeom prst="roundRect">
            <a:avLst>
              <a:gd name="adj" fmla="val 16667"/>
            </a:avLst>
          </a:prstGeom>
          <a:solidFill>
            <a:srgbClr val="CD5C5C"/>
          </a:solidFill>
          <a:ln w="9360">
            <a:solidFill>
              <a:srgbClr val="3465A4"/>
            </a:solidFill>
            <a:round/>
          </a:ln>
        </p:spPr>
        <p:style>
          <a:lnRef idx="0"/>
          <a:fillRef idx="0"/>
          <a:effectRef idx="0"/>
          <a:fontRef idx="minor"/>
        </p:style>
        <p:txBody>
          <a:bodyPr lIns="90000" tIns="45000" rIns="90000" bIns="45000" anchor="ctr">
            <a:noAutofit/>
          </a:bodyPr>
          <a:p>
            <a:pPr>
              <a:lnSpc>
                <a:spcPct val="115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100" b="0" u="none" strike="noStrike">
                <a:solidFill>
                  <a:srgbClr val="FFFFFF"/>
                </a:solidFill>
                <a:effectLst/>
                <a:uFillTx/>
                <a:latin typeface="Bahnschrift SemiLight"/>
              </a:rPr>
              <a:t>Correlación negativa  0,3-0,5</a:t>
            </a:r>
            <a:endParaRPr lang="es-ES" sz="1100" b="0" u="none" strike="noStrike">
              <a:solidFill>
                <a:srgbClr val="000000"/>
              </a:solidFill>
              <a:effectLst/>
              <a:uFillTx/>
              <a:latin typeface="Arial"/>
            </a:endParaRPr>
          </a:p>
        </p:txBody>
      </p:sp>
    </p:spTree>
  </p:cSld>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5" name=""/>
          <p:cNvPicPr/>
          <p:nvPr/>
        </p:nvPicPr>
        <p:blipFill>
          <a:blip r:embed="rId1"/>
          <a:stretch/>
        </p:blipFill>
        <p:spPr>
          <a:xfrm>
            <a:off x="179280" y="147600"/>
            <a:ext cx="9720360" cy="5443560"/>
          </a:xfrm>
          <a:prstGeom prst="rect">
            <a:avLst/>
          </a:prstGeom>
          <a:noFill/>
          <a:ln w="0">
            <a:noFill/>
          </a:ln>
        </p:spPr>
      </p:pic>
      <p:sp>
        <p:nvSpPr>
          <p:cNvPr id="126"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127"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5. Selección de Variables para el Modelo (iii)</a:t>
            </a:r>
            <a:endParaRPr lang="es-ES" sz="2400" b="0" u="none" strike="noStrike">
              <a:solidFill>
                <a:srgbClr val="000000"/>
              </a:solidFill>
              <a:effectLst/>
              <a:uFillTx/>
              <a:latin typeface="Arial"/>
            </a:endParaRPr>
          </a:p>
        </p:txBody>
      </p:sp>
      <p:sp>
        <p:nvSpPr>
          <p:cNvPr id="128" name=""/>
          <p:cNvSpPr/>
          <p:nvPr/>
        </p:nvSpPr>
        <p:spPr>
          <a:xfrm>
            <a:off x="736560" y="793800"/>
            <a:ext cx="8442360" cy="28584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Paso 2: Análisis de la relación de la target con el resto de variables</a:t>
            </a:r>
            <a:endParaRPr lang="es-ES" sz="1800" b="0" u="none" strike="noStrike">
              <a:solidFill>
                <a:srgbClr val="000000"/>
              </a:solidFill>
              <a:effectLst/>
              <a:uFillTx/>
              <a:latin typeface="Arial"/>
            </a:endParaRPr>
          </a:p>
        </p:txBody>
      </p:sp>
      <p:sp>
        <p:nvSpPr>
          <p:cNvPr id="129" name=""/>
          <p:cNvSpPr/>
          <p:nvPr/>
        </p:nvSpPr>
        <p:spPr>
          <a:xfrm>
            <a:off x="2446200" y="-231840"/>
            <a:ext cx="7272360" cy="23184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250"/>
              </a:spcBef>
              <a:spcAft>
                <a:spcPts val="1049"/>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000" b="0" u="none" strike="noStrike">
                <a:solidFill>
                  <a:srgbClr val="000000"/>
                </a:solidFill>
                <a:effectLst/>
                <a:uFillTx/>
                <a:latin typeface="Arial"/>
              </a:rPr>
              <a:t>ANÁLISIS DE LA RELACIÓN DE LA TARGET (SATISFACCIÓN GENERAL CON LA VIDA) CON EL RESTO DE VARIABLES </a:t>
            </a:r>
            <a:endParaRPr lang="es-ES" sz="1000" b="0" u="none" strike="noStrike">
              <a:solidFill>
                <a:srgbClr val="000000"/>
              </a:solidFill>
              <a:effectLst/>
              <a:uFillTx/>
              <a:latin typeface="Arial"/>
            </a:endParaRPr>
          </a:p>
        </p:txBody>
      </p:sp>
      <p:pic>
        <p:nvPicPr>
          <p:cNvPr id="130" name=""/>
          <p:cNvPicPr/>
          <p:nvPr/>
        </p:nvPicPr>
        <p:blipFill>
          <a:blip r:embed="rId2"/>
          <a:stretch/>
        </p:blipFill>
        <p:spPr>
          <a:xfrm>
            <a:off x="1908000" y="1116000"/>
            <a:ext cx="2741760" cy="2108160"/>
          </a:xfrm>
          <a:prstGeom prst="rect">
            <a:avLst/>
          </a:prstGeom>
          <a:noFill/>
          <a:ln w="9360">
            <a:solidFill>
              <a:srgbClr val="3465A4"/>
            </a:solidFill>
            <a:round/>
          </a:ln>
          <a:effectLst>
            <a:outerShdw dist="101823" dir="2700000" rotWithShape="0">
              <a:srgbClr val="5983B0">
                <a:alpha val="70000"/>
              </a:srgbClr>
            </a:outerShdw>
          </a:effectLst>
        </p:spPr>
      </p:pic>
      <p:pic>
        <p:nvPicPr>
          <p:cNvPr id="131" name=""/>
          <p:cNvPicPr/>
          <p:nvPr/>
        </p:nvPicPr>
        <p:blipFill>
          <a:blip r:embed="rId3"/>
          <a:stretch/>
        </p:blipFill>
        <p:spPr>
          <a:xfrm>
            <a:off x="1908000" y="3265560"/>
            <a:ext cx="2743200" cy="2109600"/>
          </a:xfrm>
          <a:prstGeom prst="rect">
            <a:avLst/>
          </a:prstGeom>
          <a:noFill/>
          <a:ln w="9360">
            <a:solidFill>
              <a:srgbClr val="3465A4"/>
            </a:solidFill>
            <a:round/>
          </a:ln>
          <a:effectLst>
            <a:outerShdw dist="101823" dir="2700000" rotWithShape="0">
              <a:srgbClr val="5983B0">
                <a:alpha val="70000"/>
              </a:srgbClr>
            </a:outerShdw>
          </a:effectLst>
        </p:spPr>
      </p:pic>
      <p:pic>
        <p:nvPicPr>
          <p:cNvPr id="132" name=""/>
          <p:cNvPicPr/>
          <p:nvPr/>
        </p:nvPicPr>
        <p:blipFill>
          <a:blip r:embed="rId4"/>
          <a:stretch/>
        </p:blipFill>
        <p:spPr>
          <a:xfrm>
            <a:off x="6551640" y="1116000"/>
            <a:ext cx="2743200" cy="2109960"/>
          </a:xfrm>
          <a:prstGeom prst="rect">
            <a:avLst/>
          </a:prstGeom>
          <a:noFill/>
          <a:ln w="9360">
            <a:solidFill>
              <a:srgbClr val="3465A4"/>
            </a:solidFill>
            <a:round/>
          </a:ln>
          <a:effectLst>
            <a:outerShdw dist="101823" dir="2700000" rotWithShape="0">
              <a:srgbClr val="5983B0">
                <a:alpha val="70000"/>
              </a:srgbClr>
            </a:outerShdw>
          </a:effectLst>
        </p:spPr>
      </p:pic>
      <p:pic>
        <p:nvPicPr>
          <p:cNvPr id="133" name=""/>
          <p:cNvPicPr/>
          <p:nvPr/>
        </p:nvPicPr>
        <p:blipFill>
          <a:blip r:embed="rId5"/>
          <a:stretch/>
        </p:blipFill>
        <p:spPr>
          <a:xfrm>
            <a:off x="6551640" y="3265560"/>
            <a:ext cx="2743200" cy="2109600"/>
          </a:xfrm>
          <a:prstGeom prst="rect">
            <a:avLst/>
          </a:prstGeom>
          <a:noFill/>
          <a:ln w="9360">
            <a:solidFill>
              <a:srgbClr val="3465A4"/>
            </a:solidFill>
            <a:round/>
          </a:ln>
          <a:effectLst>
            <a:outerShdw dist="101823" dir="2700000" rotWithShape="0">
              <a:srgbClr val="5983B0">
                <a:alpha val="70000"/>
              </a:srgbClr>
            </a:outerShdw>
          </a:effectLst>
        </p:spPr>
      </p:pic>
      <p:sp>
        <p:nvSpPr>
          <p:cNvPr id="134" name=""/>
          <p:cNvSpPr/>
          <p:nvPr/>
        </p:nvSpPr>
        <p:spPr>
          <a:xfrm>
            <a:off x="303120" y="1152360"/>
            <a:ext cx="1568520" cy="1260720"/>
          </a:xfrm>
          <a:prstGeom prst="roundRect">
            <a:avLst>
              <a:gd name="adj" fmla="val 16667"/>
            </a:avLst>
          </a:prstGeom>
          <a:solidFill>
            <a:srgbClr val="4682B4"/>
          </a:solidFill>
          <a:ln w="9360">
            <a:solidFill>
              <a:srgbClr val="3465A4"/>
            </a:solidFill>
            <a:round/>
          </a:ln>
        </p:spPr>
        <p:style>
          <a:lnRef idx="0"/>
          <a:fillRef idx="0"/>
          <a:effectRef idx="0"/>
          <a:fontRef idx="minor"/>
        </p:style>
        <p:txBody>
          <a:bodyPr lIns="90000" tIns="45000" rIns="90000" bIns="45000" anchor="ctr">
            <a:noAutofit/>
          </a:bodyPr>
          <a:p>
            <a:pPr>
              <a:lnSpc>
                <a:spcPct val="115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100" b="0" u="none" strike="noStrike">
                <a:solidFill>
                  <a:srgbClr val="FFFFFF"/>
                </a:solidFill>
                <a:effectLst/>
                <a:uFillTx/>
                <a:latin typeface="Bahnschrift SemiLight"/>
              </a:rPr>
              <a:t>Satisfacción con sus relaciones personales/ Satisfacción general con la vida</a:t>
            </a:r>
            <a:endParaRPr lang="es-ES" sz="1100" b="0" u="none" strike="noStrike">
              <a:solidFill>
                <a:srgbClr val="000000"/>
              </a:solidFill>
              <a:effectLst/>
              <a:uFillTx/>
              <a:latin typeface="Arial"/>
            </a:endParaRPr>
          </a:p>
        </p:txBody>
      </p:sp>
      <p:sp>
        <p:nvSpPr>
          <p:cNvPr id="135" name=""/>
          <p:cNvSpPr/>
          <p:nvPr/>
        </p:nvSpPr>
        <p:spPr>
          <a:xfrm>
            <a:off x="303120" y="3311640"/>
            <a:ext cx="1568520" cy="1260360"/>
          </a:xfrm>
          <a:prstGeom prst="roundRect">
            <a:avLst>
              <a:gd name="adj" fmla="val 16667"/>
            </a:avLst>
          </a:prstGeom>
          <a:solidFill>
            <a:srgbClr val="4682B4"/>
          </a:solidFill>
          <a:ln w="9360">
            <a:solidFill>
              <a:srgbClr val="3465A4"/>
            </a:solidFill>
            <a:round/>
          </a:ln>
        </p:spPr>
        <p:style>
          <a:lnRef idx="0"/>
          <a:fillRef idx="0"/>
          <a:effectRef idx="0"/>
          <a:fontRef idx="minor"/>
        </p:style>
        <p:txBody>
          <a:bodyPr lIns="90000" tIns="45000" rIns="90000" bIns="45000" anchor="ctr">
            <a:noAutofit/>
          </a:bodyPr>
          <a:p>
            <a:pPr>
              <a:lnSpc>
                <a:spcPct val="115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100" b="0" u="none" strike="noStrike">
                <a:solidFill>
                  <a:srgbClr val="FFFFFF"/>
                </a:solidFill>
                <a:effectLst/>
                <a:uFillTx/>
                <a:latin typeface="Bahnschrift SemiLight"/>
              </a:rPr>
              <a:t>Sentido de la propia vida/ Satisfacción general con la vida</a:t>
            </a:r>
            <a:endParaRPr lang="es-ES" sz="1100" b="0" u="none" strike="noStrike">
              <a:solidFill>
                <a:srgbClr val="000000"/>
              </a:solidFill>
              <a:effectLst/>
              <a:uFillTx/>
              <a:latin typeface="Arial"/>
            </a:endParaRPr>
          </a:p>
        </p:txBody>
      </p:sp>
      <p:sp>
        <p:nvSpPr>
          <p:cNvPr id="136" name=""/>
          <p:cNvSpPr/>
          <p:nvPr/>
        </p:nvSpPr>
        <p:spPr>
          <a:xfrm>
            <a:off x="303120" y="1152360"/>
            <a:ext cx="1568520" cy="1260720"/>
          </a:xfrm>
          <a:prstGeom prst="roundRect">
            <a:avLst>
              <a:gd name="adj" fmla="val 16667"/>
            </a:avLst>
          </a:prstGeom>
          <a:solidFill>
            <a:srgbClr val="4682B4"/>
          </a:solidFill>
          <a:ln w="9360">
            <a:solidFill>
              <a:srgbClr val="3465A4"/>
            </a:solidFill>
            <a:round/>
          </a:ln>
        </p:spPr>
        <p:style>
          <a:lnRef idx="0"/>
          <a:fillRef idx="0"/>
          <a:effectRef idx="0"/>
          <a:fontRef idx="minor"/>
        </p:style>
        <p:txBody>
          <a:bodyPr lIns="90000" tIns="45000" rIns="90000" bIns="45000" anchor="ctr">
            <a:noAutofit/>
          </a:bodyPr>
          <a:p>
            <a:pPr>
              <a:lnSpc>
                <a:spcPct val="115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100" b="0" u="none" strike="noStrike">
                <a:solidFill>
                  <a:srgbClr val="FFFFFF"/>
                </a:solidFill>
                <a:effectLst/>
                <a:uFillTx/>
                <a:latin typeface="Bahnschrift SemiLight"/>
              </a:rPr>
              <a:t>Satisfacción con sus relaciones personales/ Satisfacción general con la vida</a:t>
            </a:r>
            <a:endParaRPr lang="es-ES" sz="1100" b="0" u="none" strike="noStrike">
              <a:solidFill>
                <a:srgbClr val="000000"/>
              </a:solidFill>
              <a:effectLst/>
              <a:uFillTx/>
              <a:latin typeface="Arial"/>
            </a:endParaRPr>
          </a:p>
        </p:txBody>
      </p:sp>
      <p:sp>
        <p:nvSpPr>
          <p:cNvPr id="137" name=""/>
          <p:cNvSpPr/>
          <p:nvPr/>
        </p:nvSpPr>
        <p:spPr>
          <a:xfrm>
            <a:off x="4911840" y="1152360"/>
            <a:ext cx="1568160" cy="1260720"/>
          </a:xfrm>
          <a:prstGeom prst="roundRect">
            <a:avLst>
              <a:gd name="adj" fmla="val 16667"/>
            </a:avLst>
          </a:prstGeom>
          <a:solidFill>
            <a:srgbClr val="4682B4"/>
          </a:solidFill>
          <a:ln w="9360">
            <a:solidFill>
              <a:srgbClr val="3465A4"/>
            </a:solidFill>
            <a:round/>
          </a:ln>
        </p:spPr>
        <p:style>
          <a:lnRef idx="0"/>
          <a:fillRef idx="0"/>
          <a:effectRef idx="0"/>
          <a:fontRef idx="minor"/>
        </p:style>
        <p:txBody>
          <a:bodyPr lIns="90000" tIns="45000" rIns="90000" bIns="45000" anchor="ctr">
            <a:noAutofit/>
          </a:bodyPr>
          <a:p>
            <a:pPr>
              <a:lnSpc>
                <a:spcPct val="115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100" b="0" u="none" strike="noStrike">
                <a:solidFill>
                  <a:srgbClr val="FFFFFF"/>
                </a:solidFill>
                <a:effectLst/>
                <a:uFillTx/>
                <a:latin typeface="Bahnschrift SemiLight"/>
              </a:rPr>
              <a:t>Satisfacción con la situación económica del hogar/ Satisfacción general con la vida</a:t>
            </a:r>
            <a:endParaRPr lang="es-ES" sz="1100" b="0" u="none" strike="noStrike">
              <a:solidFill>
                <a:srgbClr val="000000"/>
              </a:solidFill>
              <a:effectLst/>
              <a:uFillTx/>
              <a:latin typeface="Arial"/>
            </a:endParaRPr>
          </a:p>
        </p:txBody>
      </p:sp>
      <p:sp>
        <p:nvSpPr>
          <p:cNvPr id="138" name=""/>
          <p:cNvSpPr/>
          <p:nvPr/>
        </p:nvSpPr>
        <p:spPr>
          <a:xfrm>
            <a:off x="4911840" y="3311640"/>
            <a:ext cx="1568160" cy="1260360"/>
          </a:xfrm>
          <a:prstGeom prst="roundRect">
            <a:avLst>
              <a:gd name="adj" fmla="val 16667"/>
            </a:avLst>
          </a:prstGeom>
          <a:solidFill>
            <a:srgbClr val="4682B4"/>
          </a:solidFill>
          <a:ln w="9360">
            <a:solidFill>
              <a:srgbClr val="3465A4"/>
            </a:solidFill>
            <a:round/>
          </a:ln>
        </p:spPr>
        <p:style>
          <a:lnRef idx="0"/>
          <a:fillRef idx="0"/>
          <a:effectRef idx="0"/>
          <a:fontRef idx="minor"/>
        </p:style>
        <p:txBody>
          <a:bodyPr lIns="90000" tIns="45000" rIns="90000" bIns="45000" anchor="ctr">
            <a:noAutofit/>
          </a:bodyPr>
          <a:p>
            <a:pPr>
              <a:lnSpc>
                <a:spcPct val="115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100" b="0" u="none" strike="noStrike">
                <a:solidFill>
                  <a:srgbClr val="FFFFFF"/>
                </a:solidFill>
                <a:effectLst/>
                <a:uFillTx/>
                <a:latin typeface="Bahnschrift SemiLight"/>
              </a:rPr>
              <a:t>Valoración relaciones personales/ Satisfacción general con la vida</a:t>
            </a:r>
            <a:endParaRPr lang="es-ES" sz="1100" b="0" u="none" strike="noStrike">
              <a:solidFill>
                <a:srgbClr val="000000"/>
              </a:solidFill>
              <a:effectLst/>
              <a:uFillTx/>
              <a:latin typeface="Arial"/>
            </a:endParaRPr>
          </a:p>
        </p:txBody>
      </p:sp>
    </p:spTree>
  </p:cSld>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9" name=""/>
          <p:cNvPicPr/>
          <p:nvPr/>
        </p:nvPicPr>
        <p:blipFill>
          <a:blip r:embed="rId1"/>
          <a:stretch/>
        </p:blipFill>
        <p:spPr>
          <a:xfrm>
            <a:off x="179280" y="147600"/>
            <a:ext cx="9720360" cy="5443560"/>
          </a:xfrm>
          <a:prstGeom prst="rect">
            <a:avLst/>
          </a:prstGeom>
          <a:noFill/>
          <a:ln w="0">
            <a:noFill/>
          </a:ln>
        </p:spPr>
      </p:pic>
      <p:sp>
        <p:nvSpPr>
          <p:cNvPr id="140"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141"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5. Selección de Variables para el Modelo (iv)</a:t>
            </a:r>
            <a:endParaRPr lang="es-ES" sz="2400" b="0" u="none" strike="noStrike">
              <a:solidFill>
                <a:srgbClr val="000000"/>
              </a:solidFill>
              <a:effectLst/>
              <a:uFillTx/>
              <a:latin typeface="Arial"/>
            </a:endParaRPr>
          </a:p>
        </p:txBody>
      </p:sp>
      <p:sp>
        <p:nvSpPr>
          <p:cNvPr id="142" name=""/>
          <p:cNvSpPr/>
          <p:nvPr/>
        </p:nvSpPr>
        <p:spPr>
          <a:xfrm>
            <a:off x="736560" y="793800"/>
            <a:ext cx="8442360" cy="28584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Paso 3: Selección final de las variables a incluir en el modelo</a:t>
            </a:r>
            <a:endParaRPr lang="es-ES" sz="1800" b="0" u="none" strike="noStrike">
              <a:solidFill>
                <a:srgbClr val="000000"/>
              </a:solidFill>
              <a:effectLst/>
              <a:uFillTx/>
              <a:latin typeface="Arial"/>
            </a:endParaRPr>
          </a:p>
        </p:txBody>
      </p:sp>
      <p:sp>
        <p:nvSpPr>
          <p:cNvPr id="143" name=""/>
          <p:cNvSpPr/>
          <p:nvPr/>
        </p:nvSpPr>
        <p:spPr>
          <a:xfrm>
            <a:off x="-179280" y="1220760"/>
            <a:ext cx="10256760" cy="4719600"/>
          </a:xfrm>
          <a:prstGeom prst="rect">
            <a:avLst/>
          </a:prstGeom>
          <a:noFill/>
          <a:ln w="0">
            <a:noFill/>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
        <p:nvSpPr>
          <p:cNvPr id="144" name=""/>
          <p:cNvSpPr/>
          <p:nvPr/>
        </p:nvSpPr>
        <p:spPr>
          <a:xfrm>
            <a:off x="865080" y="1220760"/>
            <a:ext cx="7775640" cy="183996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000" b="1" u="sng" strike="noStrike">
                <a:solidFill>
                  <a:srgbClr val="000000"/>
                </a:solidFill>
                <a:effectLst/>
                <a:uFillTx/>
                <a:latin typeface="Bahnschrift SemiLight"/>
              </a:rPr>
              <a:t>VARIABLES CONSIDERADAS PARA LA CONSTRUCCIÓN DEL MODELO: </a:t>
            </a:r>
            <a:endParaRPr lang="es-ES" sz="1000" b="0" u="none" strike="noStrike">
              <a:solidFill>
                <a:srgbClr val="000000"/>
              </a:solidFill>
              <a:effectLst/>
              <a:uFillTx/>
              <a:latin typeface="Arial"/>
            </a:endParaRPr>
          </a:p>
          <a:p>
            <a:pPr>
              <a:lnSpc>
                <a:spcPct val="115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000" b="1" u="none" strike="noStrike">
                <a:solidFill>
                  <a:srgbClr val="000000"/>
                </a:solidFill>
                <a:effectLst/>
                <a:uFillTx/>
                <a:latin typeface="Bahnschrift SemiLight"/>
                <a:ea typeface="Microsoft YaHei"/>
              </a:rPr>
              <a:t>1. AQUELLAS QUE MANTIENEN MAYOR CORRELACIÓN CON LA TARGET (&lt; 0.30): </a:t>
            </a:r>
            <a:r>
              <a:rPr lang="es-ES" sz="1000" b="1" u="none" strike="noStrike">
                <a:solidFill>
                  <a:srgbClr val="000000"/>
                </a:solidFill>
                <a:effectLst/>
                <a:uFillTx/>
                <a:latin typeface="Bahnschrift SemiLight"/>
              </a:rPr>
              <a:t> Satisf_relac_pers (0,69)Sentido_propia_vida (0,63)Satisf_econom_domest (0,53)Valor_Estado_animo (0,47)Satisf_trabajo (0,47)Satisf_vivienda (0,43)Satisf_tiempo_disp (0,43)Satisf_viv_y_entorno (0,41)Salud_percibida (0,41)Confianza_personas (0,30)</a:t>
            </a:r>
            <a:endParaRPr lang="es-ES" sz="1000" b="0" u="none" strike="noStrike">
              <a:solidFill>
                <a:srgbClr val="000000"/>
              </a:solidFill>
              <a:effectLst/>
              <a:uFillTx/>
              <a:latin typeface="Arial"/>
            </a:endParaRPr>
          </a:p>
          <a:p>
            <a:pPr>
              <a:lnSpc>
                <a:spcPct val="93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000" b="1" u="none" strike="noStrike">
                <a:solidFill>
                  <a:srgbClr val="000000"/>
                </a:solidFill>
                <a:effectLst/>
                <a:uFillTx/>
                <a:latin typeface="Bahnschrift SemiLight"/>
                <a:ea typeface="Microsoft YaHei"/>
              </a:rPr>
              <a:t>2. AQUELLAS CON CORRELACIÓN POR DEBAJO DE 0.30, PERO APORTAN INFORMACIÓN COMPLEMENTARIA: </a:t>
            </a:r>
            <a:r>
              <a:rPr lang="es-ES" sz="1000" b="1" u="none" strike="noStrike">
                <a:solidFill>
                  <a:srgbClr val="000000"/>
                </a:solidFill>
                <a:effectLst/>
                <a:uFillTx/>
                <a:latin typeface="Bahnschrift SemiLight"/>
              </a:rPr>
              <a:t>Confianza_poderes_pub (0,20)</a:t>
            </a:r>
            <a:endParaRPr lang="es-ES" sz="1000" b="0" u="none" strike="noStrike">
              <a:solidFill>
                <a:srgbClr val="000000"/>
              </a:solidFill>
              <a:effectLst/>
              <a:uFillTx/>
              <a:latin typeface="Arial"/>
            </a:endParaRPr>
          </a:p>
        </p:txBody>
      </p:sp>
      <p:sp>
        <p:nvSpPr>
          <p:cNvPr id="145" name=""/>
          <p:cNvSpPr/>
          <p:nvPr/>
        </p:nvSpPr>
        <p:spPr>
          <a:xfrm>
            <a:off x="865080" y="3168720"/>
            <a:ext cx="7775640" cy="197964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000" b="1" u="sng" strike="noStrike">
                <a:solidFill>
                  <a:srgbClr val="000000"/>
                </a:solidFill>
                <a:effectLst/>
                <a:uFillTx/>
                <a:latin typeface="Bahnschrift SemiLight"/>
              </a:rPr>
              <a:t>VARIABLES NO CONSIDERADAS PARA LA CONSTRUCCIÓN DEL MODELO: </a:t>
            </a:r>
            <a:endParaRPr lang="es-ES" sz="1000" b="0" u="none" strike="noStrike">
              <a:solidFill>
                <a:srgbClr val="000000"/>
              </a:solidFill>
              <a:effectLst/>
              <a:uFillTx/>
              <a:latin typeface="Arial"/>
            </a:endParaRPr>
          </a:p>
          <a:p>
            <a:pPr>
              <a:lnSpc>
                <a:spcPct val="115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000" b="1" u="none" strike="noStrike">
                <a:solidFill>
                  <a:srgbClr val="000000"/>
                </a:solidFill>
                <a:effectLst/>
                <a:uFillTx/>
                <a:latin typeface="Bahnschrift SemiLight"/>
              </a:rPr>
              <a:t>1. VARIABLES CON CORRELACIÓN ELEVADA (&gt;0,30) QUE SE DEJAN MOMENTANEAMENTE FUERA POR ELEVADO CORRELACIÓN CON VARIABLES YA INCLUIDAS:Valor_Relac_personales (0,52) (Corr alta con Satisf_relac_pers (0,71))Satisf_econom_hogar (0,52) (Corr alta con Satisf_econom_domest (0,88))Satisf_zona_resid (0,37) (Corr alta con Satisf_vivienda_y_entorno (0,8) y Satisf_zonas_recreat (0,7))Satisf_zonas_recreat (0,31) (Corr alta con Satisf_vivienda_y_entorno ( 0,80) y Satisf_zona_resid (0,70))</a:t>
            </a:r>
            <a:endParaRPr lang="es-ES" sz="1000" b="0" u="none" strike="noStrike">
              <a:solidFill>
                <a:srgbClr val="000000"/>
              </a:solidFill>
              <a:effectLst/>
              <a:uFillTx/>
              <a:latin typeface="Arial"/>
            </a:endParaRPr>
          </a:p>
          <a:p>
            <a:pPr>
              <a:lnSpc>
                <a:spcPct val="93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000" b="1" u="none" strike="noStrike">
                <a:solidFill>
                  <a:srgbClr val="000000"/>
                </a:solidFill>
                <a:effectLst/>
                <a:uFillTx/>
                <a:latin typeface="Bahnschrift SemiLight"/>
                <a:ea typeface="Microsoft YaHei"/>
              </a:rPr>
              <a:t>2 </a:t>
            </a:r>
            <a:r>
              <a:rPr lang="es-ES" sz="1000" b="1" u="none" strike="noStrike">
                <a:solidFill>
                  <a:srgbClr val="000000"/>
                </a:solidFill>
                <a:effectLst/>
                <a:uFillTx/>
                <a:latin typeface="Bahnschrift SemiLight"/>
              </a:rPr>
              <a:t>VARIABLES CON CORRELACIÓN POR DEBAJO DE 0,3 QUE NO APORTEN INFORMACIÓN DIFERENCIAL:Situacion_econ_subj (0.18)Sensacion_seguridad_zona (0,08)</a:t>
            </a:r>
            <a:endParaRPr lang="es-ES" sz="1000" b="0" u="none" strike="noStrike">
              <a:solidFill>
                <a:srgbClr val="000000"/>
              </a:solidFill>
              <a:effectLst/>
              <a:uFillTx/>
              <a:latin typeface="Arial"/>
            </a:endParaRPr>
          </a:p>
        </p:txBody>
      </p:sp>
    </p:spTree>
  </p:cSld>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6" name=""/>
          <p:cNvPicPr/>
          <p:nvPr/>
        </p:nvPicPr>
        <p:blipFill>
          <a:blip r:embed="rId1"/>
          <a:stretch/>
        </p:blipFill>
        <p:spPr>
          <a:xfrm>
            <a:off x="179280" y="147600"/>
            <a:ext cx="9720360" cy="5443560"/>
          </a:xfrm>
          <a:prstGeom prst="rect">
            <a:avLst/>
          </a:prstGeom>
          <a:noFill/>
          <a:ln w="0">
            <a:noFill/>
          </a:ln>
        </p:spPr>
      </p:pic>
      <p:sp>
        <p:nvSpPr>
          <p:cNvPr id="147"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148"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5. Selección de Variables para el Modelo (v)</a:t>
            </a:r>
            <a:endParaRPr lang="es-ES" sz="2400" b="0" u="none" strike="noStrike">
              <a:solidFill>
                <a:srgbClr val="000000"/>
              </a:solidFill>
              <a:effectLst/>
              <a:uFillTx/>
              <a:latin typeface="Arial"/>
            </a:endParaRPr>
          </a:p>
        </p:txBody>
      </p:sp>
      <p:sp>
        <p:nvSpPr>
          <p:cNvPr id="149" name=""/>
          <p:cNvSpPr/>
          <p:nvPr/>
        </p:nvSpPr>
        <p:spPr>
          <a:xfrm>
            <a:off x="736560" y="793800"/>
            <a:ext cx="8442360" cy="28584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Paso 3: Selección final de las variables a incluir en el modelo</a:t>
            </a:r>
            <a:endParaRPr lang="es-ES" sz="1800" b="0" u="none" strike="noStrike">
              <a:solidFill>
                <a:srgbClr val="000000"/>
              </a:solidFill>
              <a:effectLst/>
              <a:uFillTx/>
              <a:latin typeface="Arial"/>
            </a:endParaRPr>
          </a:p>
        </p:txBody>
      </p:sp>
      <p:sp>
        <p:nvSpPr>
          <p:cNvPr id="150" name=""/>
          <p:cNvSpPr/>
          <p:nvPr/>
        </p:nvSpPr>
        <p:spPr>
          <a:xfrm>
            <a:off x="720720" y="4500720"/>
            <a:ext cx="7199280" cy="64764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000" b="1" u="sng" strike="noStrike">
                <a:solidFill>
                  <a:srgbClr val="000000"/>
                </a:solidFill>
                <a:effectLst/>
                <a:uFillTx/>
                <a:latin typeface="Bahnschrift SemiLight"/>
              </a:rPr>
              <a:t>¡! NOTA: </a:t>
            </a:r>
            <a:r>
              <a:rPr lang="es-ES" sz="1000" b="1" u="none" strike="noStrike">
                <a:solidFill>
                  <a:srgbClr val="000000"/>
                </a:solidFill>
                <a:effectLst/>
                <a:uFillTx/>
                <a:latin typeface="Bahnschrift SemiLight"/>
              </a:rPr>
              <a:t>FINALMENTE LA VARIABLE SATISF_TRABAJO NO SE INCLUYE EN EL MODELO POR ELEVADO NÚMERO DE NULOS (&gt; 50%) Y DIFICULTAD PARA ENCONTRAR UNA FÓRMULA ADECUADA PARA SU UTILIZACIÓN</a:t>
            </a:r>
            <a:endParaRPr lang="es-ES" sz="1000" b="0" u="none" strike="noStrike">
              <a:solidFill>
                <a:srgbClr val="000000"/>
              </a:solidFill>
              <a:effectLst/>
              <a:uFillTx/>
              <a:latin typeface="Arial"/>
            </a:endParaRPr>
          </a:p>
        </p:txBody>
      </p:sp>
      <p:sp>
        <p:nvSpPr>
          <p:cNvPr id="151" name=""/>
          <p:cNvSpPr/>
          <p:nvPr/>
        </p:nvSpPr>
        <p:spPr>
          <a:xfrm>
            <a:off x="3922560" y="2303640"/>
            <a:ext cx="2160720" cy="900000"/>
          </a:xfrm>
          <a:prstGeom prst="roundRect">
            <a:avLst>
              <a:gd name="adj" fmla="val 16667"/>
            </a:avLst>
          </a:prstGeom>
          <a:solidFill>
            <a:srgbClr val="35475E"/>
          </a:solidFill>
          <a:ln w="9360">
            <a:solidFill>
              <a:srgbClr val="3465A4"/>
            </a:solidFill>
            <a:round/>
          </a:ln>
        </p:spPr>
        <p:style>
          <a:lnRef idx="0"/>
          <a:fillRef idx="0"/>
          <a:effectRef idx="0"/>
          <a:fontRef idx="minor"/>
        </p:style>
        <p:txBody>
          <a:bodyPr lIns="90000" tIns="45000" rIns="90000" bIns="45000" anchor="ctr">
            <a:noAutofit/>
          </a:bodyPr>
          <a:p>
            <a:pPr algn="ct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600" b="0" u="none" strike="noStrike">
                <a:solidFill>
                  <a:srgbClr val="FFFFFF"/>
                </a:solidFill>
                <a:effectLst/>
                <a:uFillTx/>
                <a:latin typeface="Bahnschrift SemiLight"/>
              </a:rPr>
              <a:t>TARGET:  Satisfacción General con la Vida</a:t>
            </a:r>
            <a:endParaRPr lang="es-ES" sz="1600" b="0" u="none" strike="noStrike">
              <a:solidFill>
                <a:srgbClr val="000000"/>
              </a:solidFill>
              <a:effectLst/>
              <a:uFillTx/>
              <a:latin typeface="Arial"/>
            </a:endParaRPr>
          </a:p>
        </p:txBody>
      </p:sp>
      <p:sp>
        <p:nvSpPr>
          <p:cNvPr id="152" name=""/>
          <p:cNvSpPr/>
          <p:nvPr/>
        </p:nvSpPr>
        <p:spPr>
          <a:xfrm>
            <a:off x="1800360" y="1619280"/>
            <a:ext cx="1260360" cy="539640"/>
          </a:xfrm>
          <a:prstGeom prst="roundRect">
            <a:avLst>
              <a:gd name="adj" fmla="val 16667"/>
            </a:avLst>
          </a:prstGeom>
          <a:solidFill>
            <a:srgbClr val="3465A4"/>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500" b="0" u="none" strike="noStrike">
                <a:solidFill>
                  <a:srgbClr val="FFFFFF"/>
                </a:solidFill>
                <a:effectLst/>
                <a:uFillTx/>
                <a:latin typeface="Bahnschrift SemiLight"/>
              </a:rPr>
              <a:t>Relaciones personales</a:t>
            </a:r>
            <a:endParaRPr lang="es-ES" sz="1500" b="0" u="none" strike="noStrike">
              <a:solidFill>
                <a:srgbClr val="000000"/>
              </a:solidFill>
              <a:effectLst/>
              <a:uFillTx/>
              <a:latin typeface="Arial"/>
            </a:endParaRPr>
          </a:p>
        </p:txBody>
      </p:sp>
      <p:sp>
        <p:nvSpPr>
          <p:cNvPr id="153" name=""/>
          <p:cNvSpPr/>
          <p:nvPr/>
        </p:nvSpPr>
        <p:spPr>
          <a:xfrm>
            <a:off x="3780000" y="1260360"/>
            <a:ext cx="1439640" cy="540000"/>
          </a:xfrm>
          <a:prstGeom prst="roundRect">
            <a:avLst>
              <a:gd name="adj" fmla="val 16667"/>
            </a:avLst>
          </a:prstGeom>
          <a:solidFill>
            <a:srgbClr val="3465A4"/>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600" b="0" u="none" strike="noStrike">
                <a:solidFill>
                  <a:srgbClr val="FFFFFF"/>
                </a:solidFill>
                <a:effectLst/>
                <a:uFillTx/>
                <a:latin typeface="Bahnschrift SemiLight"/>
              </a:rPr>
              <a:t>Sentido de la propia vida</a:t>
            </a:r>
            <a:endParaRPr lang="es-ES" sz="1600" b="0" u="none" strike="noStrike">
              <a:solidFill>
                <a:srgbClr val="000000"/>
              </a:solidFill>
              <a:effectLst/>
              <a:uFillTx/>
              <a:latin typeface="Arial"/>
            </a:endParaRPr>
          </a:p>
        </p:txBody>
      </p:sp>
      <p:sp>
        <p:nvSpPr>
          <p:cNvPr id="154" name=""/>
          <p:cNvSpPr/>
          <p:nvPr/>
        </p:nvSpPr>
        <p:spPr>
          <a:xfrm>
            <a:off x="6300720" y="1440000"/>
            <a:ext cx="1260720" cy="539640"/>
          </a:xfrm>
          <a:prstGeom prst="roundRect">
            <a:avLst>
              <a:gd name="adj" fmla="val 16667"/>
            </a:avLst>
          </a:prstGeom>
          <a:solidFill>
            <a:srgbClr val="3465A4"/>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600" b="0" u="none" strike="noStrike">
                <a:solidFill>
                  <a:srgbClr val="FFFFFF"/>
                </a:solidFill>
                <a:effectLst/>
                <a:uFillTx/>
                <a:latin typeface="Bahnschrift SemiLight"/>
              </a:rPr>
              <a:t>Economía familiar</a:t>
            </a:r>
            <a:endParaRPr lang="es-ES" sz="1600" b="0" u="none" strike="noStrike">
              <a:solidFill>
                <a:srgbClr val="000000"/>
              </a:solidFill>
              <a:effectLst/>
              <a:uFillTx/>
              <a:latin typeface="Arial"/>
            </a:endParaRPr>
          </a:p>
        </p:txBody>
      </p:sp>
      <p:sp>
        <p:nvSpPr>
          <p:cNvPr id="155" name=""/>
          <p:cNvSpPr/>
          <p:nvPr/>
        </p:nvSpPr>
        <p:spPr>
          <a:xfrm>
            <a:off x="7559640" y="2340000"/>
            <a:ext cx="1440000" cy="720720"/>
          </a:xfrm>
          <a:prstGeom prst="roundRect">
            <a:avLst>
              <a:gd name="adj" fmla="val 16667"/>
            </a:avLst>
          </a:prstGeom>
          <a:solidFill>
            <a:srgbClr val="3465A4"/>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500" b="0" u="none" strike="noStrike">
                <a:solidFill>
                  <a:srgbClr val="FFFFFF"/>
                </a:solidFill>
                <a:effectLst/>
                <a:uFillTx/>
                <a:latin typeface="Bahnschrift SemiLight"/>
              </a:rPr>
              <a:t>Vivienda y entorno residencial</a:t>
            </a:r>
            <a:endParaRPr lang="es-ES" sz="1500" b="0" u="none" strike="noStrike">
              <a:solidFill>
                <a:srgbClr val="000000"/>
              </a:solidFill>
              <a:effectLst/>
              <a:uFillTx/>
              <a:latin typeface="Arial"/>
            </a:endParaRPr>
          </a:p>
        </p:txBody>
      </p:sp>
      <p:sp>
        <p:nvSpPr>
          <p:cNvPr id="156" name=""/>
          <p:cNvSpPr/>
          <p:nvPr/>
        </p:nvSpPr>
        <p:spPr>
          <a:xfrm>
            <a:off x="6300720" y="3419640"/>
            <a:ext cx="1260720" cy="539640"/>
          </a:xfrm>
          <a:prstGeom prst="roundRect">
            <a:avLst>
              <a:gd name="adj" fmla="val 16667"/>
            </a:avLst>
          </a:prstGeom>
          <a:solidFill>
            <a:srgbClr val="3465A4"/>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500" b="0" u="none" strike="noStrike">
                <a:solidFill>
                  <a:srgbClr val="FFFFFF"/>
                </a:solidFill>
                <a:effectLst/>
                <a:uFillTx/>
                <a:latin typeface="Bahnschrift SemiLight"/>
              </a:rPr>
              <a:t>Tiempo disponible</a:t>
            </a:r>
            <a:endParaRPr lang="es-ES" sz="1500" b="0" u="none" strike="noStrike">
              <a:solidFill>
                <a:srgbClr val="000000"/>
              </a:solidFill>
              <a:effectLst/>
              <a:uFillTx/>
              <a:latin typeface="Arial"/>
            </a:endParaRPr>
          </a:p>
        </p:txBody>
      </p:sp>
      <p:sp>
        <p:nvSpPr>
          <p:cNvPr id="157" name=""/>
          <p:cNvSpPr/>
          <p:nvPr/>
        </p:nvSpPr>
        <p:spPr>
          <a:xfrm>
            <a:off x="4319640" y="3600360"/>
            <a:ext cx="1260360" cy="540000"/>
          </a:xfrm>
          <a:prstGeom prst="roundRect">
            <a:avLst>
              <a:gd name="adj" fmla="val 16667"/>
            </a:avLst>
          </a:prstGeom>
          <a:solidFill>
            <a:srgbClr val="3465A4"/>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500" b="0" u="none" strike="noStrike">
                <a:solidFill>
                  <a:srgbClr val="FFFFFF"/>
                </a:solidFill>
                <a:effectLst/>
                <a:uFillTx/>
                <a:latin typeface="Bahnschrift SemiLight"/>
              </a:rPr>
              <a:t>Salud percibida</a:t>
            </a:r>
            <a:endParaRPr lang="es-ES" sz="1500" b="0" u="none" strike="noStrike">
              <a:solidFill>
                <a:srgbClr val="000000"/>
              </a:solidFill>
              <a:effectLst/>
              <a:uFillTx/>
              <a:latin typeface="Arial"/>
            </a:endParaRPr>
          </a:p>
        </p:txBody>
      </p:sp>
      <p:sp>
        <p:nvSpPr>
          <p:cNvPr id="158" name=""/>
          <p:cNvSpPr/>
          <p:nvPr/>
        </p:nvSpPr>
        <p:spPr>
          <a:xfrm>
            <a:off x="900000" y="2340000"/>
            <a:ext cx="1260720" cy="720720"/>
          </a:xfrm>
          <a:prstGeom prst="roundRect">
            <a:avLst>
              <a:gd name="adj" fmla="val 16667"/>
            </a:avLst>
          </a:prstGeom>
          <a:solidFill>
            <a:srgbClr val="3465A4"/>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500" b="0" u="none" strike="noStrike">
                <a:solidFill>
                  <a:srgbClr val="FFFFFF"/>
                </a:solidFill>
                <a:effectLst/>
                <a:uFillTx/>
                <a:latin typeface="Bahnschrift SemiLight"/>
              </a:rPr>
              <a:t>Confianza en las personas</a:t>
            </a:r>
            <a:endParaRPr lang="es-ES" sz="1500" b="0" u="none" strike="noStrike">
              <a:solidFill>
                <a:srgbClr val="000000"/>
              </a:solidFill>
              <a:effectLst/>
              <a:uFillTx/>
              <a:latin typeface="Arial"/>
            </a:endParaRPr>
          </a:p>
        </p:txBody>
      </p:sp>
      <p:sp>
        <p:nvSpPr>
          <p:cNvPr id="159" name=""/>
          <p:cNvSpPr/>
          <p:nvPr/>
        </p:nvSpPr>
        <p:spPr>
          <a:xfrm>
            <a:off x="1800360" y="3240000"/>
            <a:ext cx="1619280" cy="720720"/>
          </a:xfrm>
          <a:prstGeom prst="roundRect">
            <a:avLst>
              <a:gd name="adj" fmla="val 16667"/>
            </a:avLst>
          </a:prstGeom>
          <a:solidFill>
            <a:srgbClr val="3465A4"/>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500" b="0" u="none" strike="noStrike">
                <a:solidFill>
                  <a:srgbClr val="FFFFFF"/>
                </a:solidFill>
                <a:effectLst/>
                <a:uFillTx/>
                <a:latin typeface="Bahnschrift SemiLight"/>
              </a:rPr>
              <a:t>Confianza en las instituciones</a:t>
            </a:r>
            <a:endParaRPr lang="es-ES" sz="1500" b="0" u="none" strike="noStrike">
              <a:solidFill>
                <a:srgbClr val="000000"/>
              </a:solidFill>
              <a:effectLst/>
              <a:uFillTx/>
              <a:latin typeface="Arial"/>
            </a:endParaRPr>
          </a:p>
        </p:txBody>
      </p:sp>
    </p:spTree>
  </p:cSld>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0" name=""/>
          <p:cNvPicPr/>
          <p:nvPr/>
        </p:nvPicPr>
        <p:blipFill>
          <a:blip r:embed="rId1"/>
          <a:stretch/>
        </p:blipFill>
        <p:spPr>
          <a:xfrm>
            <a:off x="179280" y="147600"/>
            <a:ext cx="9720360" cy="5443560"/>
          </a:xfrm>
          <a:prstGeom prst="rect">
            <a:avLst/>
          </a:prstGeom>
          <a:noFill/>
          <a:ln w="0">
            <a:noFill/>
          </a:ln>
        </p:spPr>
      </p:pic>
      <p:sp>
        <p:nvSpPr>
          <p:cNvPr id="161"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162"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6. Entrenamiento de los modelos</a:t>
            </a:r>
            <a:endParaRPr lang="es-ES" sz="2400" b="0" u="none" strike="noStrike">
              <a:solidFill>
                <a:srgbClr val="000000"/>
              </a:solidFill>
              <a:effectLst/>
              <a:uFillTx/>
              <a:latin typeface="Arial"/>
            </a:endParaRPr>
          </a:p>
        </p:txBody>
      </p:sp>
      <p:sp>
        <p:nvSpPr>
          <p:cNvPr id="163" name=""/>
          <p:cNvSpPr/>
          <p:nvPr/>
        </p:nvSpPr>
        <p:spPr>
          <a:xfrm>
            <a:off x="736560" y="974880"/>
            <a:ext cx="8083440" cy="53784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Modelos Supervisados: </a:t>
            </a:r>
            <a:endParaRPr lang="es-ES" sz="1800" b="0" u="none" strike="noStrike">
              <a:solidFill>
                <a:srgbClr val="000000"/>
              </a:solidFill>
              <a:effectLst/>
              <a:uFillTx/>
              <a:latin typeface="Arial"/>
            </a:endParaRPr>
          </a:p>
        </p:txBody>
      </p:sp>
      <p:sp>
        <p:nvSpPr>
          <p:cNvPr id="164" name=""/>
          <p:cNvSpPr/>
          <p:nvPr/>
        </p:nvSpPr>
        <p:spPr>
          <a:xfrm>
            <a:off x="738360" y="3675240"/>
            <a:ext cx="8081640" cy="53784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Modelo No Supervisado: </a:t>
            </a:r>
            <a:endParaRPr lang="es-ES" sz="1800" b="0" u="none" strike="noStrike">
              <a:solidFill>
                <a:srgbClr val="000000"/>
              </a:solidFill>
              <a:effectLst/>
              <a:uFillTx/>
              <a:latin typeface="Arial"/>
            </a:endParaRPr>
          </a:p>
        </p:txBody>
      </p:sp>
      <p:sp>
        <p:nvSpPr>
          <p:cNvPr id="165" name=""/>
          <p:cNvSpPr/>
          <p:nvPr/>
        </p:nvSpPr>
        <p:spPr>
          <a:xfrm>
            <a:off x="1025640" y="1585800"/>
            <a:ext cx="7434000" cy="183384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400" b="1" u="none" strike="noStrike">
                <a:solidFill>
                  <a:srgbClr val="000000"/>
                </a:solidFill>
                <a:effectLst/>
                <a:uFillTx/>
                <a:latin typeface="Bahnschrift SemiLight"/>
              </a:rPr>
              <a:t>1. Regresión Lineal  </a:t>
            </a:r>
            <a:endParaRPr lang="es-ES" sz="1400" b="0" u="none" strike="noStrike">
              <a:solidFill>
                <a:srgbClr val="000000"/>
              </a:solidFill>
              <a:effectLst/>
              <a:uFillTx/>
              <a:latin typeface="Arial"/>
            </a:endParaRPr>
          </a:p>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400" b="1" u="none" strike="noStrike">
                <a:solidFill>
                  <a:srgbClr val="000000"/>
                </a:solidFill>
                <a:effectLst/>
                <a:uFillTx/>
                <a:latin typeface="Bahnschrift SemiLight"/>
              </a:rPr>
              <a:t>2. Logistic Regresión</a:t>
            </a:r>
            <a:endParaRPr lang="es-ES" sz="1400" b="0" u="none" strike="noStrike">
              <a:solidFill>
                <a:srgbClr val="000000"/>
              </a:solidFill>
              <a:effectLst/>
              <a:uFillTx/>
              <a:latin typeface="Arial"/>
            </a:endParaRPr>
          </a:p>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400" b="1" u="none" strike="noStrike">
                <a:solidFill>
                  <a:srgbClr val="000000"/>
                </a:solidFill>
                <a:effectLst/>
                <a:uFillTx/>
                <a:latin typeface="Bahnschrift SemiLight"/>
              </a:rPr>
              <a:t>3. Decision Tree Regressor</a:t>
            </a:r>
            <a:endParaRPr lang="es-ES" sz="1400" b="0" u="none" strike="noStrike">
              <a:solidFill>
                <a:srgbClr val="000000"/>
              </a:solidFill>
              <a:effectLst/>
              <a:uFillTx/>
              <a:latin typeface="Arial"/>
            </a:endParaRPr>
          </a:p>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400" b="1" u="none" strike="noStrike">
                <a:solidFill>
                  <a:srgbClr val="000000"/>
                </a:solidFill>
                <a:effectLst/>
                <a:uFillTx/>
                <a:latin typeface="Bahnschrift SemiLight"/>
              </a:rPr>
              <a:t>4. Random Forest Regressor</a:t>
            </a:r>
            <a:endParaRPr lang="es-ES" sz="1400" b="0" u="none" strike="noStrike">
              <a:solidFill>
                <a:srgbClr val="000000"/>
              </a:solidFill>
              <a:effectLst/>
              <a:uFillTx/>
              <a:latin typeface="Arial"/>
            </a:endParaRPr>
          </a:p>
        </p:txBody>
      </p:sp>
      <p:sp>
        <p:nvSpPr>
          <p:cNvPr id="166" name=""/>
          <p:cNvSpPr/>
          <p:nvPr/>
        </p:nvSpPr>
        <p:spPr>
          <a:xfrm>
            <a:off x="1025640" y="4282920"/>
            <a:ext cx="7434000" cy="54000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400" b="1" u="none" strike="noStrike">
                <a:solidFill>
                  <a:srgbClr val="000000"/>
                </a:solidFill>
                <a:effectLst/>
                <a:uFillTx/>
                <a:latin typeface="Bahnschrift SemiLight"/>
              </a:rPr>
              <a:t>5. Clustering (kmeans)</a:t>
            </a:r>
            <a:endParaRPr lang="es-ES" sz="1400" b="0" u="none" strike="noStrike">
              <a:solidFill>
                <a:srgbClr val="000000"/>
              </a:solidFill>
              <a:effectLst/>
              <a:uFillTx/>
              <a:latin typeface="Arial"/>
            </a:endParaRPr>
          </a:p>
        </p:txBody>
      </p:sp>
      <p:sp>
        <p:nvSpPr>
          <p:cNvPr id="167" name=""/>
          <p:cNvSpPr/>
          <p:nvPr/>
        </p:nvSpPr>
        <p:spPr>
          <a:xfrm>
            <a:off x="4211640" y="2340000"/>
            <a:ext cx="1800360" cy="720720"/>
          </a:xfrm>
          <a:prstGeom prst="roundRect">
            <a:avLst>
              <a:gd name="adj" fmla="val 16667"/>
            </a:avLst>
          </a:prstGeom>
          <a:solidFill>
            <a:srgbClr val="3465A4"/>
          </a:solidFill>
          <a:ln w="9360">
            <a:solidFill>
              <a:srgbClr val="3465A4"/>
            </a:solidFill>
            <a:round/>
          </a:ln>
        </p:spPr>
        <p:style>
          <a:lnRef idx="0"/>
          <a:fillRef idx="0"/>
          <a:effectRef idx="0"/>
          <a:fontRef idx="minor"/>
        </p:style>
        <p:txBody>
          <a:bodyPr lIns="90000" tIns="45000" rIns="90000" bIns="45000" anchor="ctr" anchorCtr="1">
            <a:noAutofit/>
          </a:bodyPr>
          <a:p>
            <a:pPr algn="ct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400" b="0" u="none" strike="noStrike">
                <a:solidFill>
                  <a:srgbClr val="FFFFFF"/>
                </a:solidFill>
                <a:effectLst/>
                <a:uFillTx/>
                <a:latin typeface="Bahnschrift SemiLight"/>
              </a:rPr>
              <a:t>CLASIFICACIÓN</a:t>
            </a:r>
            <a:endParaRPr lang="es-ES" sz="1400" b="0" u="none" strike="noStrike">
              <a:solidFill>
                <a:srgbClr val="000000"/>
              </a:solidFill>
              <a:effectLst/>
              <a:uFillTx/>
              <a:latin typeface="Arial"/>
            </a:endParaRPr>
          </a:p>
        </p:txBody>
      </p:sp>
      <p:sp>
        <p:nvSpPr>
          <p:cNvPr id="168" name=""/>
          <p:cNvSpPr/>
          <p:nvPr/>
        </p:nvSpPr>
        <p:spPr>
          <a:xfrm>
            <a:off x="3708360" y="2160720"/>
            <a:ext cx="360360" cy="1079280"/>
          </a:xfrm>
          <a:custGeom>
            <a:avLst/>
            <a:gdLst>
              <a:gd name="textAreaLeft" fmla="*/ 0 w 360360"/>
              <a:gd name="textAreaRight" fmla="*/ 129960 w 360360"/>
              <a:gd name="textAreaTop" fmla="*/ 28080 h 1079280"/>
              <a:gd name="textAreaBottom" fmla="*/ 1051200 h 1079280"/>
              <a:gd name="GluePoint1X" fmla="*/ 0 w 21600"/>
              <a:gd name="GluePoint1Y" fmla="*/ 0 h 21600"/>
              <a:gd name="GluePoint2X" fmla="*/ 0 w 21600"/>
              <a:gd name="GluePoint2Y" fmla="*/ 21600 h 21600"/>
              <a:gd name="GluePoint3X" fmla="*/ 21600 w 21600"/>
              <a:gd name="GluePoint3Y" fmla="*/ 108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0" y="0"/>
                </a:moveTo>
                <a:cubicBezTo>
                  <a:pt x="5400" y="0"/>
                  <a:pt x="10800" y="900"/>
                  <a:pt x="10800" y="1800"/>
                </a:cubicBezTo>
                <a:lnTo>
                  <a:pt x="10800" y="9000"/>
                </a:lnTo>
                <a:cubicBezTo>
                  <a:pt x="10800" y="9900"/>
                  <a:pt x="16200" y="10800"/>
                  <a:pt x="21600" y="10800"/>
                </a:cubicBezTo>
                <a:cubicBezTo>
                  <a:pt x="16200" y="10800"/>
                  <a:pt x="10800" y="11700"/>
                  <a:pt x="10800" y="12600"/>
                </a:cubicBezTo>
                <a:lnTo>
                  <a:pt x="10800" y="19800"/>
                </a:lnTo>
                <a:cubicBezTo>
                  <a:pt x="10800" y="20700"/>
                  <a:pt x="5400" y="21600"/>
                  <a:pt x="0" y="21600"/>
                </a:cubicBezTo>
              </a:path>
            </a:pathLst>
          </a:custGeom>
          <a:noFill/>
          <a:ln w="9360">
            <a:solidFill>
              <a:srgbClr val="3465A4"/>
            </a:solidFill>
            <a:round/>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
        <p:nvSpPr>
          <p:cNvPr id="169" name=""/>
          <p:cNvSpPr/>
          <p:nvPr/>
        </p:nvSpPr>
        <p:spPr>
          <a:xfrm>
            <a:off x="3708360" y="1763640"/>
            <a:ext cx="360360" cy="395280"/>
          </a:xfrm>
          <a:custGeom>
            <a:avLst/>
            <a:gdLst>
              <a:gd name="textAreaLeft" fmla="*/ 0 w 360360"/>
              <a:gd name="textAreaRight" fmla="*/ 129960 w 360360"/>
              <a:gd name="textAreaTop" fmla="*/ 10080 h 395280"/>
              <a:gd name="textAreaBottom" fmla="*/ 385200 h 395280"/>
              <a:gd name="GluePoint1X" fmla="*/ 0 w 21600"/>
              <a:gd name="GluePoint1Y" fmla="*/ 0 h 21600"/>
              <a:gd name="GluePoint2X" fmla="*/ 0 w 21600"/>
              <a:gd name="GluePoint2Y" fmla="*/ 21600 h 21600"/>
              <a:gd name="GluePoint3X" fmla="*/ 21600 w 21600"/>
              <a:gd name="GluePoint3Y" fmla="*/ 108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0" y="0"/>
                </a:moveTo>
                <a:cubicBezTo>
                  <a:pt x="5400" y="0"/>
                  <a:pt x="10800" y="900"/>
                  <a:pt x="10800" y="1800"/>
                </a:cubicBezTo>
                <a:lnTo>
                  <a:pt x="10800" y="9000"/>
                </a:lnTo>
                <a:cubicBezTo>
                  <a:pt x="10800" y="9900"/>
                  <a:pt x="16200" y="10800"/>
                  <a:pt x="21600" y="10800"/>
                </a:cubicBezTo>
                <a:cubicBezTo>
                  <a:pt x="16200" y="10800"/>
                  <a:pt x="10800" y="11700"/>
                  <a:pt x="10800" y="12600"/>
                </a:cubicBezTo>
                <a:lnTo>
                  <a:pt x="10800" y="19800"/>
                </a:lnTo>
                <a:cubicBezTo>
                  <a:pt x="10800" y="20700"/>
                  <a:pt x="5400" y="21600"/>
                  <a:pt x="0" y="21600"/>
                </a:cubicBezTo>
              </a:path>
            </a:pathLst>
          </a:custGeom>
          <a:noFill/>
          <a:ln w="9360">
            <a:solidFill>
              <a:srgbClr val="3465A4"/>
            </a:solidFill>
            <a:round/>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
        <p:nvSpPr>
          <p:cNvPr id="170" name=""/>
          <p:cNvSpPr/>
          <p:nvPr/>
        </p:nvSpPr>
        <p:spPr>
          <a:xfrm>
            <a:off x="4211640" y="1782720"/>
            <a:ext cx="1800360" cy="360360"/>
          </a:xfrm>
          <a:prstGeom prst="roundRect">
            <a:avLst>
              <a:gd name="adj" fmla="val 16667"/>
            </a:avLst>
          </a:prstGeom>
          <a:solidFill>
            <a:srgbClr val="3465A4"/>
          </a:solidFill>
          <a:ln w="9360">
            <a:solidFill>
              <a:srgbClr val="3465A4"/>
            </a:solidFill>
            <a:round/>
          </a:ln>
        </p:spPr>
        <p:style>
          <a:lnRef idx="0"/>
          <a:fillRef idx="0"/>
          <a:effectRef idx="0"/>
          <a:fontRef idx="minor"/>
        </p:style>
        <p:txBody>
          <a:bodyPr lIns="90000" tIns="45000" rIns="90000" bIns="45000" anchor="ctr" anchorCtr="1">
            <a:noAutofit/>
          </a:bodyPr>
          <a:p>
            <a:pPr algn="ct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400" b="0" u="none" strike="noStrike">
                <a:solidFill>
                  <a:srgbClr val="FFFFFF"/>
                </a:solidFill>
                <a:effectLst/>
                <a:uFillTx/>
                <a:latin typeface="Bahnschrift SemiLight"/>
              </a:rPr>
              <a:t>REGRESIÓN</a:t>
            </a:r>
            <a:endParaRPr lang="es-ES" sz="1400" b="0" u="none" strike="noStrike">
              <a:solidFill>
                <a:srgbClr val="000000"/>
              </a:solidFill>
              <a:effectLst/>
              <a:uFillTx/>
              <a:latin typeface="Arial"/>
            </a:endParaRPr>
          </a:p>
        </p:txBody>
      </p:sp>
    </p:spTree>
  </p:cSld>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71" name=""/>
          <p:cNvPicPr/>
          <p:nvPr/>
        </p:nvPicPr>
        <p:blipFill>
          <a:blip r:embed="rId1"/>
          <a:stretch/>
        </p:blipFill>
        <p:spPr>
          <a:xfrm>
            <a:off x="179280" y="147600"/>
            <a:ext cx="9720360" cy="5443560"/>
          </a:xfrm>
          <a:prstGeom prst="rect">
            <a:avLst/>
          </a:prstGeom>
          <a:noFill/>
          <a:ln w="0">
            <a:noFill/>
          </a:ln>
        </p:spPr>
      </p:pic>
      <p:sp>
        <p:nvSpPr>
          <p:cNvPr id="172"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173"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6. Entrenamiento de los modelos (ii)</a:t>
            </a:r>
            <a:endParaRPr lang="es-ES" sz="2400" b="0" u="none" strike="noStrike">
              <a:solidFill>
                <a:srgbClr val="000000"/>
              </a:solidFill>
              <a:effectLst/>
              <a:uFillTx/>
              <a:latin typeface="Arial"/>
            </a:endParaRPr>
          </a:p>
        </p:txBody>
      </p:sp>
      <p:sp>
        <p:nvSpPr>
          <p:cNvPr id="174" name=""/>
          <p:cNvSpPr/>
          <p:nvPr/>
        </p:nvSpPr>
        <p:spPr>
          <a:xfrm>
            <a:off x="736560" y="974880"/>
            <a:ext cx="8442360" cy="53784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1. Regresión Lineal _v1 : con variables demográficas</a:t>
            </a:r>
            <a:endParaRPr lang="es-ES" sz="1800" b="0" u="none" strike="noStrike">
              <a:solidFill>
                <a:srgbClr val="000000"/>
              </a:solidFill>
              <a:effectLst/>
              <a:uFillTx/>
              <a:latin typeface="Arial"/>
            </a:endParaRPr>
          </a:p>
        </p:txBody>
      </p:sp>
      <p:grpSp>
        <p:nvGrpSpPr>
          <p:cNvPr id="175" name=""/>
          <p:cNvGrpSpPr/>
          <p:nvPr/>
        </p:nvGrpSpPr>
        <p:grpSpPr>
          <a:xfrm>
            <a:off x="952560" y="1547640"/>
            <a:ext cx="1668240" cy="1073160"/>
            <a:chOff x="952560" y="1547640"/>
            <a:chExt cx="1668240" cy="1073160"/>
          </a:xfrm>
        </p:grpSpPr>
        <p:sp>
          <p:nvSpPr>
            <p:cNvPr id="176" name=""/>
            <p:cNvSpPr/>
            <p:nvPr/>
          </p:nvSpPr>
          <p:spPr>
            <a:xfrm>
              <a:off x="952560" y="1547640"/>
              <a:ext cx="1668240" cy="107316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es-ES" sz="1400" b="0" u="none" strike="noStrike">
                <a:solidFill>
                  <a:srgbClr val="000000"/>
                </a:solidFill>
                <a:effectLst/>
                <a:uFillTx/>
                <a:latin typeface="Arial"/>
              </a:endParaRPr>
            </a:p>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es-ES" sz="1400" b="0" u="none" strike="noStrike">
                <a:solidFill>
                  <a:srgbClr val="000000"/>
                </a:solidFill>
                <a:effectLst/>
                <a:uFillTx/>
                <a:latin typeface="Arial"/>
              </a:endParaRPr>
            </a:p>
          </p:txBody>
        </p:sp>
        <p:pic>
          <p:nvPicPr>
            <p:cNvPr id="177" name=""/>
            <p:cNvPicPr/>
            <p:nvPr/>
          </p:nvPicPr>
          <p:blipFill>
            <a:blip r:embed="rId2"/>
            <a:stretch/>
          </p:blipFill>
          <p:spPr>
            <a:xfrm>
              <a:off x="1200240" y="1700280"/>
              <a:ext cx="1174680" cy="770040"/>
            </a:xfrm>
            <a:prstGeom prst="rect">
              <a:avLst/>
            </a:prstGeom>
            <a:noFill/>
            <a:ln w="9360">
              <a:solidFill>
                <a:srgbClr val="3465A4"/>
              </a:solidFill>
              <a:round/>
            </a:ln>
          </p:spPr>
        </p:pic>
      </p:grpSp>
      <p:pic>
        <p:nvPicPr>
          <p:cNvPr id="178" name=""/>
          <p:cNvPicPr/>
          <p:nvPr/>
        </p:nvPicPr>
        <p:blipFill>
          <a:blip r:embed="rId3"/>
          <a:stretch/>
        </p:blipFill>
        <p:spPr>
          <a:xfrm>
            <a:off x="4211640" y="1800360"/>
            <a:ext cx="5230800" cy="3240000"/>
          </a:xfrm>
          <a:prstGeom prst="rect">
            <a:avLst/>
          </a:prstGeom>
          <a:noFill/>
          <a:ln w="9360">
            <a:solidFill>
              <a:srgbClr val="3465A4"/>
            </a:solidFill>
            <a:round/>
          </a:ln>
          <a:effectLst>
            <a:outerShdw dist="101823" dir="2700000" rotWithShape="0">
              <a:srgbClr val="5983B0">
                <a:alpha val="70000"/>
              </a:srgbClr>
            </a:outerShdw>
          </a:effectLst>
        </p:spPr>
      </p:pic>
      <p:sp>
        <p:nvSpPr>
          <p:cNvPr id="179" name=""/>
          <p:cNvSpPr/>
          <p:nvPr/>
        </p:nvSpPr>
        <p:spPr>
          <a:xfrm>
            <a:off x="306360" y="2735280"/>
            <a:ext cx="3654360" cy="241128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326"/>
              </a:spcBef>
              <a:spcAft>
                <a:spcPts val="61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100" b="1" u="none" strike="noStrike">
                <a:solidFill>
                  <a:srgbClr val="000000"/>
                </a:solidFill>
                <a:effectLst/>
                <a:uFillTx/>
                <a:latin typeface="Bahnschrift SemiLight"/>
              </a:rPr>
              <a:t>Los resultados indican que el modelo es capaz de explicar aproximadamente el 59,2% de la variabilidad observada en la satisfacción con la vida. Además, el error medio de predicción es inferior a un punto en una escala de satisfacción de 0 a 10, lo que puede considerarse un nivel de precisión razonable para un fenómeno complejo y subjetivo como el bienestar personal.</a:t>
            </a:r>
            <a:endParaRPr lang="es-ES" sz="1100" b="0" u="none" strike="noStrike">
              <a:solidFill>
                <a:srgbClr val="000000"/>
              </a:solidFill>
              <a:effectLst/>
              <a:uFillTx/>
              <a:latin typeface="Arial"/>
            </a:endParaRPr>
          </a:p>
          <a:p>
            <a:pPr>
              <a:lnSpc>
                <a:spcPct val="93000"/>
              </a:lnSpc>
              <a:spcBef>
                <a:spcPts val="326"/>
              </a:spcBef>
              <a:spcAft>
                <a:spcPts val="61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100" b="1" u="none" strike="noStrike">
                <a:solidFill>
                  <a:srgbClr val="000000"/>
                </a:solidFill>
                <a:effectLst/>
                <a:uFillTx/>
                <a:latin typeface="Bahnschrift SemiLight"/>
              </a:rPr>
              <a:t>Pese a esto, vamos a valorar hasta qué punto la inclusión de variables demográficas aporta una mejora significativa en la capacidad predictiva. El valor del coeficiente parece indicar que las variables demográficas tienen escaso peso en la definición del bienestar de las personas. </a:t>
            </a:r>
            <a:endParaRPr lang="es-ES" sz="1100" b="0" u="none" strike="noStrike">
              <a:solidFill>
                <a:srgbClr val="000000"/>
              </a:solidFill>
              <a:effectLst/>
              <a:uFillTx/>
              <a:latin typeface="Arial"/>
            </a:endParaRPr>
          </a:p>
        </p:txBody>
      </p:sp>
    </p:spTree>
  </p:cSld>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0" name=""/>
          <p:cNvPicPr/>
          <p:nvPr/>
        </p:nvPicPr>
        <p:blipFill>
          <a:blip r:embed="rId1"/>
          <a:stretch/>
        </p:blipFill>
        <p:spPr>
          <a:xfrm>
            <a:off x="179280" y="147600"/>
            <a:ext cx="9720360" cy="5443560"/>
          </a:xfrm>
          <a:prstGeom prst="rect">
            <a:avLst/>
          </a:prstGeom>
          <a:noFill/>
          <a:ln w="0">
            <a:noFill/>
          </a:ln>
        </p:spPr>
      </p:pic>
      <p:sp>
        <p:nvSpPr>
          <p:cNvPr id="181"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182"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6. Entrenamiento de los modelos (iii)</a:t>
            </a:r>
            <a:endParaRPr lang="es-ES" sz="2400" b="0" u="none" strike="noStrike">
              <a:solidFill>
                <a:srgbClr val="000000"/>
              </a:solidFill>
              <a:effectLst/>
              <a:uFillTx/>
              <a:latin typeface="Arial"/>
            </a:endParaRPr>
          </a:p>
        </p:txBody>
      </p:sp>
      <p:sp>
        <p:nvSpPr>
          <p:cNvPr id="183" name=""/>
          <p:cNvSpPr/>
          <p:nvPr/>
        </p:nvSpPr>
        <p:spPr>
          <a:xfrm>
            <a:off x="736560" y="974880"/>
            <a:ext cx="8442360" cy="53784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2. Regresión Lineal _v2 : sin variables demográficas</a:t>
            </a:r>
            <a:endParaRPr lang="es-ES" sz="1800" b="0" u="none" strike="noStrike">
              <a:solidFill>
                <a:srgbClr val="000000"/>
              </a:solidFill>
              <a:effectLst/>
              <a:uFillTx/>
              <a:latin typeface="Arial"/>
            </a:endParaRPr>
          </a:p>
        </p:txBody>
      </p:sp>
      <p:grpSp>
        <p:nvGrpSpPr>
          <p:cNvPr id="184" name=""/>
          <p:cNvGrpSpPr/>
          <p:nvPr/>
        </p:nvGrpSpPr>
        <p:grpSpPr>
          <a:xfrm>
            <a:off x="1025640" y="1584360"/>
            <a:ext cx="1668240" cy="1073160"/>
            <a:chOff x="1025640" y="1584360"/>
            <a:chExt cx="1668240" cy="1073160"/>
          </a:xfrm>
        </p:grpSpPr>
        <p:sp>
          <p:nvSpPr>
            <p:cNvPr id="185" name=""/>
            <p:cNvSpPr/>
            <p:nvPr/>
          </p:nvSpPr>
          <p:spPr>
            <a:xfrm>
              <a:off x="1025640" y="1584360"/>
              <a:ext cx="1668240" cy="107316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es-ES" sz="1400" b="0" u="none" strike="noStrike">
                <a:solidFill>
                  <a:srgbClr val="000000"/>
                </a:solidFill>
                <a:effectLst/>
                <a:uFillTx/>
                <a:latin typeface="Arial"/>
              </a:endParaRPr>
            </a:p>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es-ES" sz="1400" b="0" u="none" strike="noStrike">
                <a:solidFill>
                  <a:srgbClr val="000000"/>
                </a:solidFill>
                <a:effectLst/>
                <a:uFillTx/>
                <a:latin typeface="Arial"/>
              </a:endParaRPr>
            </a:p>
          </p:txBody>
        </p:sp>
        <p:pic>
          <p:nvPicPr>
            <p:cNvPr id="186" name=""/>
            <p:cNvPicPr/>
            <p:nvPr/>
          </p:nvPicPr>
          <p:blipFill>
            <a:blip r:embed="rId2"/>
            <a:stretch/>
          </p:blipFill>
          <p:spPr>
            <a:xfrm>
              <a:off x="1320840" y="1735200"/>
              <a:ext cx="1074600" cy="770040"/>
            </a:xfrm>
            <a:prstGeom prst="rect">
              <a:avLst/>
            </a:prstGeom>
            <a:noFill/>
            <a:ln w="0">
              <a:noFill/>
            </a:ln>
          </p:spPr>
        </p:pic>
      </p:grpSp>
      <p:pic>
        <p:nvPicPr>
          <p:cNvPr id="187" name=""/>
          <p:cNvPicPr/>
          <p:nvPr/>
        </p:nvPicPr>
        <p:blipFill>
          <a:blip r:embed="rId3"/>
          <a:stretch/>
        </p:blipFill>
        <p:spPr>
          <a:xfrm>
            <a:off x="4103640" y="1760400"/>
            <a:ext cx="5235480" cy="3243240"/>
          </a:xfrm>
          <a:prstGeom prst="rect">
            <a:avLst/>
          </a:prstGeom>
          <a:noFill/>
          <a:ln w="9360">
            <a:solidFill>
              <a:srgbClr val="3465A4"/>
            </a:solidFill>
            <a:round/>
          </a:ln>
          <a:effectLst>
            <a:outerShdw dist="101823" dir="2700000" rotWithShape="0">
              <a:srgbClr val="5983B0">
                <a:alpha val="70000"/>
              </a:srgbClr>
            </a:outerShdw>
          </a:effectLst>
        </p:spPr>
      </p:pic>
      <p:sp>
        <p:nvSpPr>
          <p:cNvPr id="188" name=""/>
          <p:cNvSpPr/>
          <p:nvPr/>
        </p:nvSpPr>
        <p:spPr>
          <a:xfrm>
            <a:off x="811080" y="2735280"/>
            <a:ext cx="2880000" cy="241128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100" b="1" u="none" strike="noStrike">
                <a:solidFill>
                  <a:srgbClr val="000000"/>
                </a:solidFill>
                <a:effectLst/>
                <a:uFillTx/>
                <a:latin typeface="Bahnschrift SemiLight"/>
              </a:rPr>
              <a:t>Los resultados muestran una ligera mejora en todas las métricas de evaluación al excluir las variables demográficas (R² = 0,594 frente a 0,592; MAE = 0,783 frente a 0,785; MSE = 1,261 frente a 1,266; RMSE = 1,123 frente a 1,125). </a:t>
            </a:r>
            <a:endParaRPr lang="es-ES" sz="1100" b="0" u="none" strike="noStrike">
              <a:solidFill>
                <a:srgbClr val="000000"/>
              </a:solidFill>
              <a:effectLst/>
              <a:uFillTx/>
              <a:latin typeface="Arial"/>
            </a:endParaRPr>
          </a:p>
          <a:p>
            <a:pPr>
              <a:lnSpc>
                <a:spcPct val="93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100" b="1" u="none" strike="noStrike">
                <a:solidFill>
                  <a:srgbClr val="000000"/>
                </a:solidFill>
                <a:effectLst/>
                <a:uFillTx/>
                <a:latin typeface="Bahnschrift SemiLight"/>
              </a:rPr>
              <a:t>Por ello, decido construir el resto de modelos utilizando únicamente las variables de bienestar seleccionadas. </a:t>
            </a:r>
            <a:endParaRPr lang="es-ES" sz="1100" b="0" u="none" strike="noStrike">
              <a:solidFill>
                <a:srgbClr val="000000"/>
              </a:solidFill>
              <a:effectLst/>
              <a:uFillTx/>
              <a:latin typeface="Arial"/>
            </a:endParaRPr>
          </a:p>
        </p:txBody>
      </p:sp>
    </p:spTree>
  </p:cSld>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9" name=""/>
          <p:cNvPicPr/>
          <p:nvPr/>
        </p:nvPicPr>
        <p:blipFill>
          <a:blip r:embed="rId1"/>
          <a:stretch/>
        </p:blipFill>
        <p:spPr>
          <a:xfrm>
            <a:off x="179280" y="147600"/>
            <a:ext cx="9720360" cy="5443560"/>
          </a:xfrm>
          <a:prstGeom prst="rect">
            <a:avLst/>
          </a:prstGeom>
          <a:noFill/>
          <a:ln w="0">
            <a:noFill/>
          </a:ln>
        </p:spPr>
      </p:pic>
      <p:sp>
        <p:nvSpPr>
          <p:cNvPr id="190"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191"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6. Entrenamiento de los modelos</a:t>
            </a:r>
            <a:endParaRPr lang="es-ES" sz="2400" b="0" u="none" strike="noStrike">
              <a:solidFill>
                <a:srgbClr val="000000"/>
              </a:solidFill>
              <a:effectLst/>
              <a:uFillTx/>
              <a:latin typeface="Arial"/>
            </a:endParaRPr>
          </a:p>
        </p:txBody>
      </p:sp>
      <p:sp>
        <p:nvSpPr>
          <p:cNvPr id="192" name=""/>
          <p:cNvSpPr/>
          <p:nvPr/>
        </p:nvSpPr>
        <p:spPr>
          <a:xfrm>
            <a:off x="736560" y="900000"/>
            <a:ext cx="8083440" cy="61272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Antes de empezar a trabajar con modelos de clasifiación: creación de dos clases</a:t>
            </a:r>
            <a:endParaRPr lang="es-ES" sz="1800" b="0" u="none" strike="noStrike">
              <a:solidFill>
                <a:srgbClr val="000000"/>
              </a:solidFill>
              <a:effectLst/>
              <a:uFillTx/>
              <a:latin typeface="Arial"/>
            </a:endParaRPr>
          </a:p>
        </p:txBody>
      </p:sp>
      <p:sp>
        <p:nvSpPr>
          <p:cNvPr id="193" name=""/>
          <p:cNvSpPr/>
          <p:nvPr/>
        </p:nvSpPr>
        <p:spPr>
          <a:xfrm>
            <a:off x="5400720" y="1808280"/>
            <a:ext cx="4140000" cy="2055600"/>
          </a:xfrm>
          <a:prstGeom prst="rect">
            <a:avLst/>
          </a:prstGeom>
          <a:solidFill>
            <a:srgbClr val="FFFFFF"/>
          </a:solidFill>
          <a:ln w="9360">
            <a:solidFill>
              <a:srgbClr val="3465A4"/>
            </a:solidFill>
            <a:round/>
          </a:ln>
          <a:effectLst>
            <a:outerShdw dist="101823" dir="2700000" rotWithShape="0">
              <a:srgbClr val="5983B0"/>
            </a:outerShdw>
          </a:effectLst>
        </p:spPr>
        <p:style>
          <a:lnRef idx="0"/>
          <a:fillRef idx="0"/>
          <a:effectRef idx="0"/>
          <a:fontRef idx="minor"/>
        </p:style>
        <p:txBody>
          <a:bodyPr lIns="90000" tIns="45000" rIns="90000" bIns="45000" anchor="t">
            <a:noAutofit/>
          </a:bodyPr>
          <a:p>
            <a:pPr>
              <a:lnSpc>
                <a:spcPct val="100000"/>
              </a:lnSpc>
              <a:spcBef>
                <a:spcPts val="638"/>
              </a:spcBef>
              <a:spcAft>
                <a:spcPts val="4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000" b="0" u="none" strike="noStrike">
                <a:solidFill>
                  <a:srgbClr val="000000"/>
                </a:solidFill>
                <a:effectLst/>
                <a:uFillTx/>
                <a:latin typeface="Arial"/>
              </a:rPr>
              <a:t>Nueva variable binaria denominada "Bienestar_alto", donde los valores de satisfacción entre 0 y 7 se clasifican como 0 (ausencia de bienestar elevado) y los valores entre 8 y 10 como 1 (bienestar elevado). </a:t>
            </a:r>
            <a:endParaRPr lang="es-ES" sz="1000" b="0" u="none" strike="noStrike">
              <a:solidFill>
                <a:srgbClr val="000000"/>
              </a:solidFill>
              <a:effectLst/>
              <a:uFillTx/>
              <a:latin typeface="Arial"/>
            </a:endParaRPr>
          </a:p>
          <a:p>
            <a:pPr>
              <a:lnSpc>
                <a:spcPct val="100000"/>
              </a:lnSpc>
              <a:spcBef>
                <a:spcPts val="638"/>
              </a:spcBef>
              <a:spcAft>
                <a:spcPts val="4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000" b="0" u="none" strike="noStrike">
                <a:solidFill>
                  <a:srgbClr val="000000"/>
                </a:solidFill>
                <a:effectLst/>
                <a:uFillTx/>
                <a:latin typeface="Arial"/>
              </a:rPr>
              <a:t>Este punto de corte se seleccionó por varios motivos. En primer lugar, el valor 8 representa un nivel claramente alto de satisfacción dentro de la escala utilizada. En segundo lugar, la distribución resultante genera dos grupos muy equilibrados (aproximadamente 46% frente a 54% de los registros), lo que favorece el entrenamiento y evaluación de modelos de clasificación. Y en tercer lugar, tomamos la media, situada entre el 7 y el 8 (7,31) como punto de corte, entre los más satisfechos y los menos satisfechos con su vida. </a:t>
            </a:r>
            <a:endParaRPr lang="es-ES" sz="1000" b="0" u="none" strike="noStrike">
              <a:solidFill>
                <a:srgbClr val="000000"/>
              </a:solidFill>
              <a:effectLst/>
              <a:uFillTx/>
              <a:latin typeface="Arial"/>
            </a:endParaRPr>
          </a:p>
        </p:txBody>
      </p:sp>
      <p:grpSp>
        <p:nvGrpSpPr>
          <p:cNvPr id="194" name=""/>
          <p:cNvGrpSpPr/>
          <p:nvPr/>
        </p:nvGrpSpPr>
        <p:grpSpPr>
          <a:xfrm>
            <a:off x="1100160" y="1695600"/>
            <a:ext cx="4730400" cy="3342960"/>
            <a:chOff x="1100160" y="1695600"/>
            <a:chExt cx="4730400" cy="3342960"/>
          </a:xfrm>
        </p:grpSpPr>
        <p:pic>
          <p:nvPicPr>
            <p:cNvPr id="195" name=""/>
            <p:cNvPicPr/>
            <p:nvPr/>
          </p:nvPicPr>
          <p:blipFill>
            <a:blip r:embed="rId2"/>
            <a:stretch/>
          </p:blipFill>
          <p:spPr>
            <a:xfrm>
              <a:off x="1100160" y="1695600"/>
              <a:ext cx="3939480" cy="2442960"/>
            </a:xfrm>
            <a:prstGeom prst="rect">
              <a:avLst/>
            </a:prstGeom>
            <a:noFill/>
            <a:ln w="9360">
              <a:solidFill>
                <a:srgbClr val="3465A4"/>
              </a:solidFill>
              <a:round/>
            </a:ln>
            <a:effectLst>
              <a:outerShdw dist="101823" dir="2700000" rotWithShape="0">
                <a:srgbClr val="5983B0">
                  <a:alpha val="70000"/>
                </a:srgbClr>
              </a:outerShdw>
            </a:effectLst>
          </p:spPr>
        </p:pic>
        <p:sp>
          <p:nvSpPr>
            <p:cNvPr id="196" name=""/>
            <p:cNvSpPr/>
            <p:nvPr/>
          </p:nvSpPr>
          <p:spPr>
            <a:xfrm>
              <a:off x="1619280" y="1871640"/>
              <a:ext cx="2338560" cy="2122560"/>
            </a:xfrm>
            <a:prstGeom prst="rect">
              <a:avLst/>
            </a:prstGeom>
            <a:noFill/>
            <a:ln w="28800">
              <a:solidFill>
                <a:srgbClr val="3465A4"/>
              </a:solidFill>
              <a:round/>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
          <p:nvSpPr>
            <p:cNvPr id="197" name=""/>
            <p:cNvSpPr/>
            <p:nvPr/>
          </p:nvSpPr>
          <p:spPr>
            <a:xfrm>
              <a:off x="3996360" y="1871640"/>
              <a:ext cx="862200" cy="2122560"/>
            </a:xfrm>
            <a:prstGeom prst="rect">
              <a:avLst/>
            </a:prstGeom>
            <a:noFill/>
            <a:ln w="28800">
              <a:solidFill>
                <a:srgbClr val="3465A4"/>
              </a:solidFill>
              <a:round/>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sp>
          <p:nvSpPr>
            <p:cNvPr id="198" name=""/>
            <p:cNvSpPr/>
            <p:nvPr/>
          </p:nvSpPr>
          <p:spPr>
            <a:xfrm>
              <a:off x="2519640" y="4319640"/>
              <a:ext cx="1077840" cy="718920"/>
            </a:xfrm>
            <a:prstGeom prst="roundRect">
              <a:avLst>
                <a:gd name="adj" fmla="val 16667"/>
              </a:avLst>
            </a:prstGeom>
            <a:solidFill>
              <a:srgbClr val="3465A4"/>
            </a:solidFill>
            <a:ln w="9360">
              <a:solidFill>
                <a:srgbClr val="3465A4"/>
              </a:solidFill>
              <a:round/>
            </a:ln>
          </p:spPr>
          <p:style>
            <a:lnRef idx="0"/>
            <a:fillRef idx="0"/>
            <a:effectRef idx="0"/>
            <a:fontRef idx="minor"/>
          </p:style>
          <p:txBody>
            <a:bodyPr lIns="90000" tIns="45000" rIns="90000" bIns="45000" anchor="ctr" anchorCtr="1">
              <a:noAutofit/>
            </a:bodyPr>
            <a:p>
              <a:pPr algn="ct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200" b="0" u="none" strike="noStrike">
                  <a:solidFill>
                    <a:srgbClr val="FFFFFF"/>
                  </a:solidFill>
                  <a:effectLst/>
                  <a:uFillTx/>
                  <a:latin typeface="Bahnschrift SemiLight"/>
                </a:rPr>
                <a:t>Nivel de bienestar bajo (0-7)</a:t>
              </a:r>
              <a:endParaRPr lang="es-ES" sz="1200" b="0" u="none" strike="noStrike">
                <a:solidFill>
                  <a:srgbClr val="000000"/>
                </a:solidFill>
                <a:effectLst/>
                <a:uFillTx/>
                <a:latin typeface="Arial"/>
              </a:endParaRPr>
            </a:p>
          </p:txBody>
        </p:sp>
        <p:sp>
          <p:nvSpPr>
            <p:cNvPr id="199" name=""/>
            <p:cNvSpPr/>
            <p:nvPr/>
          </p:nvSpPr>
          <p:spPr>
            <a:xfrm>
              <a:off x="4752360" y="4319640"/>
              <a:ext cx="1078200" cy="718920"/>
            </a:xfrm>
            <a:prstGeom prst="roundRect">
              <a:avLst>
                <a:gd name="adj" fmla="val 16667"/>
              </a:avLst>
            </a:prstGeom>
            <a:solidFill>
              <a:srgbClr val="3465A4"/>
            </a:solidFill>
            <a:ln w="9360">
              <a:solidFill>
                <a:srgbClr val="3465A4"/>
              </a:solidFill>
              <a:round/>
            </a:ln>
          </p:spPr>
          <p:style>
            <a:lnRef idx="0"/>
            <a:fillRef idx="0"/>
            <a:effectRef idx="0"/>
            <a:fontRef idx="minor"/>
          </p:style>
          <p:txBody>
            <a:bodyPr lIns="90000" tIns="45000" rIns="90000" bIns="45000" anchor="ctr" anchorCtr="1">
              <a:noAutofit/>
            </a:bodyPr>
            <a:p>
              <a:pPr algn="ct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200" b="0" u="none" strike="noStrike">
                  <a:solidFill>
                    <a:srgbClr val="FFFFFF"/>
                  </a:solidFill>
                  <a:effectLst/>
                  <a:uFillTx/>
                  <a:latin typeface="Bahnschrift SemiLight"/>
                </a:rPr>
                <a:t>Nivel de bienestar alto (8-10)</a:t>
              </a:r>
              <a:endParaRPr lang="es-ES" sz="1200" b="0" u="none" strike="noStrike">
                <a:solidFill>
                  <a:srgbClr val="000000"/>
                </a:solidFill>
                <a:effectLst/>
                <a:uFillTx/>
                <a:latin typeface="Arial"/>
              </a:endParaRPr>
            </a:p>
          </p:txBody>
        </p:sp>
        <p:cxnSp>
          <p:nvCxnSpPr>
            <p:cNvPr id="200" name=""/>
            <p:cNvCxnSpPr>
              <a:stCxn id="196" idx="1"/>
              <a:endCxn id="198" idx="1"/>
            </p:cNvCxnSpPr>
            <p:nvPr/>
          </p:nvCxnSpPr>
          <p:spPr>
            <a:xfrm flipH="1" flipV="1" rot="10800000">
              <a:off x="1618920" y="2933280"/>
              <a:ext cx="899280" cy="1745280"/>
            </a:xfrm>
            <a:prstGeom prst="bentConnector3">
              <a:avLst>
                <a:gd name="adj1" fmla="val -21585"/>
              </a:avLst>
            </a:prstGeom>
            <a:ln w="28800">
              <a:solidFill>
                <a:srgbClr val="3465A4"/>
              </a:solidFill>
              <a:round/>
            </a:ln>
          </p:spPr>
        </p:cxnSp>
        <p:cxnSp>
          <p:nvCxnSpPr>
            <p:cNvPr id="201" name=""/>
            <p:cNvCxnSpPr>
              <a:stCxn id="197" idx="2"/>
              <a:endCxn id="199" idx="1"/>
            </p:cNvCxnSpPr>
            <p:nvPr/>
          </p:nvCxnSpPr>
          <p:spPr>
            <a:xfrm flipH="1" rot="16200000">
              <a:off x="4247280" y="4175640"/>
              <a:ext cx="682920" cy="322920"/>
            </a:xfrm>
            <a:prstGeom prst="bentConnector2">
              <a:avLst/>
            </a:prstGeom>
            <a:ln w="28800">
              <a:solidFill>
                <a:srgbClr val="3465A4"/>
              </a:solidFill>
              <a:round/>
            </a:ln>
          </p:spPr>
        </p:cxnSp>
      </p:grpSp>
    </p:spTree>
  </p:cSld>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02" name=""/>
          <p:cNvPicPr/>
          <p:nvPr/>
        </p:nvPicPr>
        <p:blipFill>
          <a:blip r:embed="rId1"/>
          <a:stretch/>
        </p:blipFill>
        <p:spPr>
          <a:xfrm>
            <a:off x="179280" y="147600"/>
            <a:ext cx="9720360" cy="5443560"/>
          </a:xfrm>
          <a:prstGeom prst="rect">
            <a:avLst/>
          </a:prstGeom>
          <a:noFill/>
          <a:ln w="0">
            <a:noFill/>
          </a:ln>
        </p:spPr>
      </p:pic>
      <p:sp>
        <p:nvSpPr>
          <p:cNvPr id="203"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204"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6. Entrenamiento de los modelos (iv)</a:t>
            </a:r>
            <a:endParaRPr lang="es-ES" sz="2400" b="0" u="none" strike="noStrike">
              <a:solidFill>
                <a:srgbClr val="000000"/>
              </a:solidFill>
              <a:effectLst/>
              <a:uFillTx/>
              <a:latin typeface="Arial"/>
            </a:endParaRPr>
          </a:p>
        </p:txBody>
      </p:sp>
      <p:sp>
        <p:nvSpPr>
          <p:cNvPr id="205" name=""/>
          <p:cNvSpPr/>
          <p:nvPr/>
        </p:nvSpPr>
        <p:spPr>
          <a:xfrm>
            <a:off x="736560" y="974880"/>
            <a:ext cx="8442360" cy="53784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3. Logistic Regression_v1: con variables demográficas</a:t>
            </a:r>
            <a:endParaRPr lang="es-ES" sz="1800" b="0" u="none" strike="noStrike">
              <a:solidFill>
                <a:srgbClr val="000000"/>
              </a:solidFill>
              <a:effectLst/>
              <a:uFillTx/>
              <a:latin typeface="Arial"/>
            </a:endParaRPr>
          </a:p>
        </p:txBody>
      </p:sp>
      <p:sp>
        <p:nvSpPr>
          <p:cNvPr id="206" name=""/>
          <p:cNvSpPr/>
          <p:nvPr/>
        </p:nvSpPr>
        <p:spPr>
          <a:xfrm>
            <a:off x="1025640" y="1584360"/>
            <a:ext cx="1670040" cy="107460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es-ES" sz="1400" b="0" u="none" strike="noStrike">
              <a:solidFill>
                <a:srgbClr val="000000"/>
              </a:solidFill>
              <a:effectLst/>
              <a:uFillTx/>
              <a:latin typeface="Arial"/>
            </a:endParaRPr>
          </a:p>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es-ES" sz="1400" b="0" u="none" strike="noStrike">
              <a:solidFill>
                <a:srgbClr val="000000"/>
              </a:solidFill>
              <a:effectLst/>
              <a:uFillTx/>
              <a:latin typeface="Arial"/>
            </a:endParaRPr>
          </a:p>
        </p:txBody>
      </p:sp>
      <p:sp>
        <p:nvSpPr>
          <p:cNvPr id="207" name=""/>
          <p:cNvSpPr/>
          <p:nvPr/>
        </p:nvSpPr>
        <p:spPr>
          <a:xfrm>
            <a:off x="811080" y="2735280"/>
            <a:ext cx="2880000" cy="241128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100" b="1" u="none" strike="noStrike">
                <a:solidFill>
                  <a:srgbClr val="000000"/>
                </a:solidFill>
                <a:effectLst/>
                <a:uFillTx/>
                <a:latin typeface="Bahnschrift SemiLight"/>
              </a:rPr>
              <a:t>xxx</a:t>
            </a:r>
            <a:endParaRPr lang="es-ES" sz="1100" b="0" u="none" strike="noStrike">
              <a:solidFill>
                <a:srgbClr val="000000"/>
              </a:solidFill>
              <a:effectLst/>
              <a:uFillTx/>
              <a:latin typeface="Arial"/>
            </a:endParaRPr>
          </a:p>
        </p:txBody>
      </p:sp>
      <p:pic>
        <p:nvPicPr>
          <p:cNvPr id="208" name=""/>
          <p:cNvPicPr/>
          <p:nvPr/>
        </p:nvPicPr>
        <p:blipFill>
          <a:blip r:embed="rId2"/>
          <a:stretch/>
        </p:blipFill>
        <p:spPr>
          <a:xfrm>
            <a:off x="1155600" y="1697040"/>
            <a:ext cx="1409760" cy="822240"/>
          </a:xfrm>
          <a:prstGeom prst="rect">
            <a:avLst/>
          </a:prstGeom>
          <a:noFill/>
          <a:ln w="0">
            <a:noFill/>
          </a:ln>
        </p:spPr>
      </p:pic>
      <p:pic>
        <p:nvPicPr>
          <p:cNvPr id="209" name=""/>
          <p:cNvPicPr/>
          <p:nvPr/>
        </p:nvPicPr>
        <p:blipFill>
          <a:blip r:embed="rId3"/>
          <a:stretch/>
        </p:blipFill>
        <p:spPr>
          <a:xfrm>
            <a:off x="4680000" y="1619280"/>
            <a:ext cx="3862440" cy="3467160"/>
          </a:xfrm>
          <a:prstGeom prst="rect">
            <a:avLst/>
          </a:prstGeom>
          <a:noFill/>
          <a:ln w="9360">
            <a:solidFill>
              <a:srgbClr val="3465A4"/>
            </a:solidFill>
            <a:round/>
          </a:ln>
          <a:effectLst>
            <a:outerShdw dist="101823" dir="2700000" rotWithShape="0">
              <a:srgbClr val="5983B0">
                <a:alpha val="70000"/>
              </a:srgbClr>
            </a:outerShdw>
          </a:effectLst>
        </p:spPr>
      </p:pic>
    </p:spTree>
  </p:cSld>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10" name=""/>
          <p:cNvPicPr/>
          <p:nvPr/>
        </p:nvPicPr>
        <p:blipFill>
          <a:blip r:embed="rId1"/>
          <a:stretch/>
        </p:blipFill>
        <p:spPr>
          <a:xfrm>
            <a:off x="179280" y="147600"/>
            <a:ext cx="9720360" cy="5443560"/>
          </a:xfrm>
          <a:prstGeom prst="rect">
            <a:avLst/>
          </a:prstGeom>
          <a:noFill/>
          <a:ln w="0">
            <a:noFill/>
          </a:ln>
        </p:spPr>
      </p:pic>
      <p:sp>
        <p:nvSpPr>
          <p:cNvPr id="211"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212"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6. Entrenamiento de los modelos (v)</a:t>
            </a:r>
            <a:endParaRPr lang="es-ES" sz="2400" b="0" u="none" strike="noStrike">
              <a:solidFill>
                <a:srgbClr val="000000"/>
              </a:solidFill>
              <a:effectLst/>
              <a:uFillTx/>
              <a:latin typeface="Arial"/>
            </a:endParaRPr>
          </a:p>
        </p:txBody>
      </p:sp>
      <p:sp>
        <p:nvSpPr>
          <p:cNvPr id="213" name=""/>
          <p:cNvSpPr/>
          <p:nvPr/>
        </p:nvSpPr>
        <p:spPr>
          <a:xfrm>
            <a:off x="736560" y="974880"/>
            <a:ext cx="8442360" cy="53784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4. Logistic Regression_v2: sin variables demográficas</a:t>
            </a:r>
            <a:endParaRPr lang="es-ES" sz="1800" b="0" u="none" strike="noStrike">
              <a:solidFill>
                <a:srgbClr val="000000"/>
              </a:solidFill>
              <a:effectLst/>
              <a:uFillTx/>
              <a:latin typeface="Arial"/>
            </a:endParaRPr>
          </a:p>
        </p:txBody>
      </p:sp>
      <p:sp>
        <p:nvSpPr>
          <p:cNvPr id="214" name=""/>
          <p:cNvSpPr/>
          <p:nvPr/>
        </p:nvSpPr>
        <p:spPr>
          <a:xfrm>
            <a:off x="1025640" y="1584360"/>
            <a:ext cx="1670040" cy="107460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es-ES" sz="1400" b="0" u="none" strike="noStrike">
              <a:solidFill>
                <a:srgbClr val="000000"/>
              </a:solidFill>
              <a:effectLst/>
              <a:uFillTx/>
              <a:latin typeface="Arial"/>
            </a:endParaRPr>
          </a:p>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es-ES" sz="1400" b="0" u="none" strike="noStrike">
              <a:solidFill>
                <a:srgbClr val="000000"/>
              </a:solidFill>
              <a:effectLst/>
              <a:uFillTx/>
              <a:latin typeface="Arial"/>
            </a:endParaRPr>
          </a:p>
        </p:txBody>
      </p:sp>
      <p:sp>
        <p:nvSpPr>
          <p:cNvPr id="215" name=""/>
          <p:cNvSpPr/>
          <p:nvPr/>
        </p:nvSpPr>
        <p:spPr>
          <a:xfrm>
            <a:off x="811080" y="2735280"/>
            <a:ext cx="2880000" cy="241128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100" b="1" u="none" strike="noStrike">
                <a:solidFill>
                  <a:srgbClr val="000000"/>
                </a:solidFill>
                <a:effectLst/>
                <a:uFillTx/>
                <a:latin typeface="Bahnschrift SemiLight"/>
              </a:rPr>
              <a:t>xxx</a:t>
            </a:r>
            <a:endParaRPr lang="es-ES" sz="1100" b="0" u="none" strike="noStrike">
              <a:solidFill>
                <a:srgbClr val="000000"/>
              </a:solidFill>
              <a:effectLst/>
              <a:uFillTx/>
              <a:latin typeface="Arial"/>
            </a:endParaRPr>
          </a:p>
        </p:txBody>
      </p:sp>
      <p:pic>
        <p:nvPicPr>
          <p:cNvPr id="216" name=""/>
          <p:cNvPicPr/>
          <p:nvPr/>
        </p:nvPicPr>
        <p:blipFill>
          <a:blip r:embed="rId2"/>
          <a:stretch/>
        </p:blipFill>
        <p:spPr>
          <a:xfrm>
            <a:off x="1187280" y="1744560"/>
            <a:ext cx="1417680" cy="738360"/>
          </a:xfrm>
          <a:prstGeom prst="rect">
            <a:avLst/>
          </a:prstGeom>
          <a:noFill/>
          <a:ln w="0">
            <a:noFill/>
          </a:ln>
        </p:spPr>
      </p:pic>
      <p:pic>
        <p:nvPicPr>
          <p:cNvPr id="217" name=""/>
          <p:cNvPicPr/>
          <p:nvPr/>
        </p:nvPicPr>
        <p:blipFill>
          <a:blip r:embed="rId3"/>
          <a:stretch/>
        </p:blipFill>
        <p:spPr>
          <a:xfrm>
            <a:off x="4776840" y="1619280"/>
            <a:ext cx="3862440" cy="3467160"/>
          </a:xfrm>
          <a:prstGeom prst="rect">
            <a:avLst/>
          </a:prstGeom>
          <a:noFill/>
          <a:ln w="9360">
            <a:solidFill>
              <a:srgbClr val="3465A4"/>
            </a:solidFill>
            <a:round/>
          </a:ln>
          <a:effectLst>
            <a:outerShdw dist="101823" dir="2700000" rotWithShape="0">
              <a:srgbClr val="5983B0">
                <a:alpha val="70000"/>
              </a:srgbClr>
            </a:outerShdw>
          </a:effectLst>
        </p:spPr>
      </p:pic>
    </p:spTree>
  </p:cSld>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18" name=""/>
          <p:cNvPicPr/>
          <p:nvPr/>
        </p:nvPicPr>
        <p:blipFill>
          <a:blip r:embed="rId1"/>
          <a:stretch/>
        </p:blipFill>
        <p:spPr>
          <a:xfrm>
            <a:off x="179280" y="147600"/>
            <a:ext cx="9720360" cy="5443560"/>
          </a:xfrm>
          <a:prstGeom prst="rect">
            <a:avLst/>
          </a:prstGeom>
          <a:noFill/>
          <a:ln w="0">
            <a:noFill/>
          </a:ln>
        </p:spPr>
      </p:pic>
      <p:sp>
        <p:nvSpPr>
          <p:cNvPr id="219"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220"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6. Entrenamiento de los modelos (vi)</a:t>
            </a:r>
            <a:endParaRPr lang="es-ES" sz="2400" b="0" u="none" strike="noStrike">
              <a:solidFill>
                <a:srgbClr val="000000"/>
              </a:solidFill>
              <a:effectLst/>
              <a:uFillTx/>
              <a:latin typeface="Arial"/>
            </a:endParaRPr>
          </a:p>
        </p:txBody>
      </p:sp>
      <p:sp>
        <p:nvSpPr>
          <p:cNvPr id="221" name=""/>
          <p:cNvSpPr/>
          <p:nvPr/>
        </p:nvSpPr>
        <p:spPr>
          <a:xfrm>
            <a:off x="736560" y="974880"/>
            <a:ext cx="8442360" cy="53784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5. Decission Tree Classifier: sin ninguna parametrización</a:t>
            </a:r>
            <a:endParaRPr lang="es-ES" sz="1800" b="0" u="none" strike="noStrike">
              <a:solidFill>
                <a:srgbClr val="000000"/>
              </a:solidFill>
              <a:effectLst/>
              <a:uFillTx/>
              <a:latin typeface="Arial"/>
            </a:endParaRPr>
          </a:p>
        </p:txBody>
      </p:sp>
      <p:sp>
        <p:nvSpPr>
          <p:cNvPr id="222" name=""/>
          <p:cNvSpPr/>
          <p:nvPr/>
        </p:nvSpPr>
        <p:spPr>
          <a:xfrm>
            <a:off x="1025640" y="1584360"/>
            <a:ext cx="1670040" cy="107460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es-ES" sz="1400" b="0" u="none" strike="noStrike">
              <a:solidFill>
                <a:srgbClr val="000000"/>
              </a:solidFill>
              <a:effectLst/>
              <a:uFillTx/>
              <a:latin typeface="Arial"/>
            </a:endParaRPr>
          </a:p>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es-ES" sz="1400" b="0" u="none" strike="noStrike">
              <a:solidFill>
                <a:srgbClr val="000000"/>
              </a:solidFill>
              <a:effectLst/>
              <a:uFillTx/>
              <a:latin typeface="Arial"/>
            </a:endParaRPr>
          </a:p>
        </p:txBody>
      </p:sp>
      <p:sp>
        <p:nvSpPr>
          <p:cNvPr id="223" name=""/>
          <p:cNvSpPr/>
          <p:nvPr/>
        </p:nvSpPr>
        <p:spPr>
          <a:xfrm>
            <a:off x="811080" y="2735280"/>
            <a:ext cx="2880000" cy="241128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100" b="1" u="none" strike="noStrike">
                <a:solidFill>
                  <a:srgbClr val="000000"/>
                </a:solidFill>
                <a:effectLst/>
                <a:uFillTx/>
                <a:latin typeface="Bahnschrift SemiLight"/>
              </a:rPr>
              <a:t>xxx</a:t>
            </a:r>
            <a:endParaRPr lang="es-ES" sz="1100" b="0" u="none" strike="noStrike">
              <a:solidFill>
                <a:srgbClr val="000000"/>
              </a:solidFill>
              <a:effectLst/>
              <a:uFillTx/>
              <a:latin typeface="Arial"/>
            </a:endParaRPr>
          </a:p>
        </p:txBody>
      </p:sp>
      <p:pic>
        <p:nvPicPr>
          <p:cNvPr id="224" name=""/>
          <p:cNvPicPr/>
          <p:nvPr/>
        </p:nvPicPr>
        <p:blipFill>
          <a:blip r:embed="rId2"/>
          <a:stretch/>
        </p:blipFill>
        <p:spPr>
          <a:xfrm>
            <a:off x="1116000" y="1665360"/>
            <a:ext cx="1538280" cy="890640"/>
          </a:xfrm>
          <a:prstGeom prst="rect">
            <a:avLst/>
          </a:prstGeom>
          <a:noFill/>
          <a:ln w="0">
            <a:noFill/>
          </a:ln>
        </p:spPr>
      </p:pic>
      <p:pic>
        <p:nvPicPr>
          <p:cNvPr id="225" name=""/>
          <p:cNvPicPr/>
          <p:nvPr/>
        </p:nvPicPr>
        <p:blipFill>
          <a:blip r:embed="rId3"/>
          <a:stretch/>
        </p:blipFill>
        <p:spPr>
          <a:xfrm>
            <a:off x="4597560" y="1752480"/>
            <a:ext cx="3862080" cy="3467160"/>
          </a:xfrm>
          <a:prstGeom prst="rect">
            <a:avLst/>
          </a:prstGeom>
          <a:noFill/>
          <a:ln w="9360">
            <a:solidFill>
              <a:srgbClr val="3465A4"/>
            </a:solidFill>
            <a:round/>
          </a:ln>
          <a:effectLst>
            <a:outerShdw dist="101823" dir="2700000" rotWithShape="0">
              <a:srgbClr val="5983B0">
                <a:alpha val="70000"/>
              </a:srgbClr>
            </a:outerShdw>
          </a:effectLst>
        </p:spPr>
      </p:pic>
    </p:spTree>
  </p:cSld>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26" name=""/>
          <p:cNvPicPr/>
          <p:nvPr/>
        </p:nvPicPr>
        <p:blipFill>
          <a:blip r:embed="rId1"/>
          <a:stretch/>
        </p:blipFill>
        <p:spPr>
          <a:xfrm>
            <a:off x="179280" y="147600"/>
            <a:ext cx="9720360" cy="5443560"/>
          </a:xfrm>
          <a:prstGeom prst="rect">
            <a:avLst/>
          </a:prstGeom>
          <a:noFill/>
          <a:ln w="0">
            <a:noFill/>
          </a:ln>
        </p:spPr>
      </p:pic>
      <p:sp>
        <p:nvSpPr>
          <p:cNvPr id="227"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228"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6. Entrenamiento de los modelos (vi)</a:t>
            </a:r>
            <a:endParaRPr lang="es-ES" sz="2400" b="0" u="none" strike="noStrike">
              <a:solidFill>
                <a:srgbClr val="000000"/>
              </a:solidFill>
              <a:effectLst/>
              <a:uFillTx/>
              <a:latin typeface="Arial"/>
            </a:endParaRPr>
          </a:p>
        </p:txBody>
      </p:sp>
      <p:sp>
        <p:nvSpPr>
          <p:cNvPr id="229" name=""/>
          <p:cNvSpPr/>
          <p:nvPr/>
        </p:nvSpPr>
        <p:spPr>
          <a:xfrm>
            <a:off x="736560" y="974880"/>
            <a:ext cx="8442360" cy="53784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5. Decission Tree Classifier:  limitando la profundidad a 4 (max_depth)</a:t>
            </a:r>
            <a:endParaRPr lang="es-ES" sz="1800" b="0" u="none" strike="noStrike">
              <a:solidFill>
                <a:srgbClr val="000000"/>
              </a:solidFill>
              <a:effectLst/>
              <a:uFillTx/>
              <a:latin typeface="Arial"/>
            </a:endParaRPr>
          </a:p>
        </p:txBody>
      </p:sp>
      <p:sp>
        <p:nvSpPr>
          <p:cNvPr id="230" name=""/>
          <p:cNvSpPr/>
          <p:nvPr/>
        </p:nvSpPr>
        <p:spPr>
          <a:xfrm>
            <a:off x="1025640" y="1584360"/>
            <a:ext cx="1670040" cy="107460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es-ES" sz="1400" b="0" u="none" strike="noStrike">
              <a:solidFill>
                <a:srgbClr val="000000"/>
              </a:solidFill>
              <a:effectLst/>
              <a:uFillTx/>
              <a:latin typeface="Arial"/>
            </a:endParaRPr>
          </a:p>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es-ES" sz="1400" b="0" u="none" strike="noStrike">
              <a:solidFill>
                <a:srgbClr val="000000"/>
              </a:solidFill>
              <a:effectLst/>
              <a:uFillTx/>
              <a:latin typeface="Arial"/>
            </a:endParaRPr>
          </a:p>
        </p:txBody>
      </p:sp>
      <p:sp>
        <p:nvSpPr>
          <p:cNvPr id="231" name=""/>
          <p:cNvSpPr/>
          <p:nvPr/>
        </p:nvSpPr>
        <p:spPr>
          <a:xfrm>
            <a:off x="811080" y="2735280"/>
            <a:ext cx="2880000" cy="241128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100" b="1" u="none" strike="noStrike">
                <a:solidFill>
                  <a:srgbClr val="000000"/>
                </a:solidFill>
                <a:effectLst/>
                <a:uFillTx/>
                <a:latin typeface="Bahnschrift SemiLight"/>
              </a:rPr>
              <a:t>xxx</a:t>
            </a:r>
            <a:endParaRPr lang="es-ES" sz="1100" b="0" u="none" strike="noStrike">
              <a:solidFill>
                <a:srgbClr val="000000"/>
              </a:solidFill>
              <a:effectLst/>
              <a:uFillTx/>
              <a:latin typeface="Arial"/>
            </a:endParaRPr>
          </a:p>
        </p:txBody>
      </p:sp>
      <p:pic>
        <p:nvPicPr>
          <p:cNvPr id="232" name=""/>
          <p:cNvPicPr/>
          <p:nvPr/>
        </p:nvPicPr>
        <p:blipFill>
          <a:blip r:embed="rId2"/>
          <a:stretch/>
        </p:blipFill>
        <p:spPr>
          <a:xfrm>
            <a:off x="1187280" y="1751040"/>
            <a:ext cx="1347840" cy="770040"/>
          </a:xfrm>
          <a:prstGeom prst="rect">
            <a:avLst/>
          </a:prstGeom>
          <a:noFill/>
          <a:ln w="0">
            <a:noFill/>
          </a:ln>
        </p:spPr>
      </p:pic>
      <p:pic>
        <p:nvPicPr>
          <p:cNvPr id="233" name=""/>
          <p:cNvPicPr/>
          <p:nvPr/>
        </p:nvPicPr>
        <p:blipFill>
          <a:blip r:embed="rId3"/>
          <a:stretch/>
        </p:blipFill>
        <p:spPr>
          <a:xfrm>
            <a:off x="4560840" y="1619280"/>
            <a:ext cx="3862440" cy="3467160"/>
          </a:xfrm>
          <a:prstGeom prst="rect">
            <a:avLst/>
          </a:prstGeom>
          <a:noFill/>
          <a:ln w="9360">
            <a:solidFill>
              <a:srgbClr val="3465A4"/>
            </a:solidFill>
            <a:round/>
          </a:ln>
          <a:effectLst>
            <a:outerShdw dist="101823" dir="2700000" rotWithShape="0">
              <a:srgbClr val="5983B0">
                <a:alpha val="70000"/>
              </a:srgbClr>
            </a:outerShdw>
          </a:effectLst>
        </p:spPr>
      </p:pic>
    </p:spTree>
  </p:cSld>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34" name=""/>
          <p:cNvPicPr/>
          <p:nvPr/>
        </p:nvPicPr>
        <p:blipFill>
          <a:blip r:embed="rId1"/>
          <a:stretch/>
        </p:blipFill>
        <p:spPr>
          <a:xfrm>
            <a:off x="179280" y="147600"/>
            <a:ext cx="9720360" cy="5443560"/>
          </a:xfrm>
          <a:prstGeom prst="rect">
            <a:avLst/>
          </a:prstGeom>
          <a:noFill/>
          <a:ln w="0">
            <a:noFill/>
          </a:ln>
        </p:spPr>
      </p:pic>
      <p:sp>
        <p:nvSpPr>
          <p:cNvPr id="235"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236"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6. Entrenamiento de los modelos (vii)</a:t>
            </a:r>
            <a:endParaRPr lang="es-ES" sz="2400" b="0" u="none" strike="noStrike">
              <a:solidFill>
                <a:srgbClr val="000000"/>
              </a:solidFill>
              <a:effectLst/>
              <a:uFillTx/>
              <a:latin typeface="Arial"/>
            </a:endParaRPr>
          </a:p>
        </p:txBody>
      </p:sp>
      <p:sp>
        <p:nvSpPr>
          <p:cNvPr id="237" name=""/>
          <p:cNvSpPr/>
          <p:nvPr/>
        </p:nvSpPr>
        <p:spPr>
          <a:xfrm>
            <a:off x="736560" y="974880"/>
            <a:ext cx="8442360" cy="53784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6. Random Forest Classifier: sin parametrización</a:t>
            </a:r>
            <a:endParaRPr lang="es-ES" sz="1800" b="0" u="none" strike="noStrike">
              <a:solidFill>
                <a:srgbClr val="000000"/>
              </a:solidFill>
              <a:effectLst/>
              <a:uFillTx/>
              <a:latin typeface="Arial"/>
            </a:endParaRPr>
          </a:p>
        </p:txBody>
      </p:sp>
      <p:sp>
        <p:nvSpPr>
          <p:cNvPr id="238" name=""/>
          <p:cNvSpPr/>
          <p:nvPr/>
        </p:nvSpPr>
        <p:spPr>
          <a:xfrm>
            <a:off x="1025640" y="1584360"/>
            <a:ext cx="1670040" cy="107460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es-ES" sz="1400" b="0" u="none" strike="noStrike">
              <a:solidFill>
                <a:srgbClr val="000000"/>
              </a:solidFill>
              <a:effectLst/>
              <a:uFillTx/>
              <a:latin typeface="Arial"/>
            </a:endParaRPr>
          </a:p>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es-ES" sz="1400" b="0" u="none" strike="noStrike">
              <a:solidFill>
                <a:srgbClr val="000000"/>
              </a:solidFill>
              <a:effectLst/>
              <a:uFillTx/>
              <a:latin typeface="Arial"/>
            </a:endParaRPr>
          </a:p>
        </p:txBody>
      </p:sp>
      <p:sp>
        <p:nvSpPr>
          <p:cNvPr id="239" name=""/>
          <p:cNvSpPr/>
          <p:nvPr/>
        </p:nvSpPr>
        <p:spPr>
          <a:xfrm>
            <a:off x="811080" y="2735280"/>
            <a:ext cx="2880000" cy="241128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100" b="1" u="none" strike="noStrike">
                <a:solidFill>
                  <a:srgbClr val="000000"/>
                </a:solidFill>
                <a:effectLst/>
                <a:uFillTx/>
                <a:latin typeface="Bahnschrift SemiLight"/>
              </a:rPr>
              <a:t>xxx</a:t>
            </a:r>
            <a:endParaRPr lang="es-ES" sz="1100" b="0" u="none" strike="noStrike">
              <a:solidFill>
                <a:srgbClr val="000000"/>
              </a:solidFill>
              <a:effectLst/>
              <a:uFillTx/>
              <a:latin typeface="Arial"/>
            </a:endParaRPr>
          </a:p>
        </p:txBody>
      </p:sp>
      <p:pic>
        <p:nvPicPr>
          <p:cNvPr id="240" name=""/>
          <p:cNvPicPr/>
          <p:nvPr/>
        </p:nvPicPr>
        <p:blipFill>
          <a:blip r:embed="rId2"/>
          <a:stretch/>
        </p:blipFill>
        <p:spPr>
          <a:xfrm>
            <a:off x="1170000" y="1743120"/>
            <a:ext cx="1386000" cy="776160"/>
          </a:xfrm>
          <a:prstGeom prst="rect">
            <a:avLst/>
          </a:prstGeom>
          <a:noFill/>
          <a:ln w="0">
            <a:noFill/>
          </a:ln>
        </p:spPr>
      </p:pic>
      <p:pic>
        <p:nvPicPr>
          <p:cNvPr id="241" name=""/>
          <p:cNvPicPr/>
          <p:nvPr/>
        </p:nvPicPr>
        <p:blipFill>
          <a:blip r:embed="rId3"/>
          <a:stretch/>
        </p:blipFill>
        <p:spPr>
          <a:xfrm>
            <a:off x="4859280" y="1609560"/>
            <a:ext cx="3862440" cy="3467160"/>
          </a:xfrm>
          <a:prstGeom prst="rect">
            <a:avLst/>
          </a:prstGeom>
          <a:noFill/>
          <a:ln w="9360">
            <a:solidFill>
              <a:srgbClr val="3465A4"/>
            </a:solidFill>
            <a:round/>
          </a:ln>
          <a:effectLst>
            <a:outerShdw dist="101823" dir="2700000" rotWithShape="0">
              <a:srgbClr val="5983B0">
                <a:alpha val="70000"/>
              </a:srgbClr>
            </a:outerShdw>
          </a:effectLst>
        </p:spPr>
      </p:pic>
    </p:spTree>
  </p:cSld>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42" name=""/>
          <p:cNvPicPr/>
          <p:nvPr/>
        </p:nvPicPr>
        <p:blipFill>
          <a:blip r:embed="rId1"/>
          <a:stretch/>
        </p:blipFill>
        <p:spPr>
          <a:xfrm>
            <a:off x="179280" y="147600"/>
            <a:ext cx="9720360" cy="5443560"/>
          </a:xfrm>
          <a:prstGeom prst="rect">
            <a:avLst/>
          </a:prstGeom>
          <a:noFill/>
          <a:ln w="0">
            <a:noFill/>
          </a:ln>
        </p:spPr>
      </p:pic>
      <p:sp>
        <p:nvSpPr>
          <p:cNvPr id="243"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244"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6. Entrenamiento de los modelos (vii)</a:t>
            </a:r>
            <a:endParaRPr lang="es-ES" sz="2400" b="0" u="none" strike="noStrike">
              <a:solidFill>
                <a:srgbClr val="000000"/>
              </a:solidFill>
              <a:effectLst/>
              <a:uFillTx/>
              <a:latin typeface="Arial"/>
            </a:endParaRPr>
          </a:p>
        </p:txBody>
      </p:sp>
      <p:sp>
        <p:nvSpPr>
          <p:cNvPr id="245" name=""/>
          <p:cNvSpPr/>
          <p:nvPr/>
        </p:nvSpPr>
        <p:spPr>
          <a:xfrm>
            <a:off x="736560" y="974880"/>
            <a:ext cx="8442360" cy="53784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6. Random Forest Classifier: parametrizado</a:t>
            </a:r>
            <a:endParaRPr lang="es-ES" sz="1800" b="0" u="none" strike="noStrike">
              <a:solidFill>
                <a:srgbClr val="000000"/>
              </a:solidFill>
              <a:effectLst/>
              <a:uFillTx/>
              <a:latin typeface="Arial"/>
            </a:endParaRPr>
          </a:p>
        </p:txBody>
      </p:sp>
      <p:sp>
        <p:nvSpPr>
          <p:cNvPr id="246" name=""/>
          <p:cNvSpPr/>
          <p:nvPr/>
        </p:nvSpPr>
        <p:spPr>
          <a:xfrm>
            <a:off x="1025640" y="1584360"/>
            <a:ext cx="1670040" cy="107460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es-ES" sz="1400" b="0" u="none" strike="noStrike">
              <a:solidFill>
                <a:srgbClr val="000000"/>
              </a:solidFill>
              <a:effectLst/>
              <a:uFillTx/>
              <a:latin typeface="Arial"/>
            </a:endParaRPr>
          </a:p>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es-ES" sz="1400" b="0" u="none" strike="noStrike">
              <a:solidFill>
                <a:srgbClr val="000000"/>
              </a:solidFill>
              <a:effectLst/>
              <a:uFillTx/>
              <a:latin typeface="Arial"/>
            </a:endParaRPr>
          </a:p>
        </p:txBody>
      </p:sp>
      <p:sp>
        <p:nvSpPr>
          <p:cNvPr id="247" name=""/>
          <p:cNvSpPr/>
          <p:nvPr/>
        </p:nvSpPr>
        <p:spPr>
          <a:xfrm>
            <a:off x="811080" y="2735280"/>
            <a:ext cx="2880000" cy="241128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100" b="1" u="none" strike="noStrike">
                <a:solidFill>
                  <a:srgbClr val="000000"/>
                </a:solidFill>
                <a:effectLst/>
                <a:uFillTx/>
                <a:latin typeface="Bahnschrift SemiLight"/>
              </a:rPr>
              <a:t>xxx</a:t>
            </a:r>
            <a:endParaRPr lang="es-ES" sz="1100" b="0" u="none" strike="noStrike">
              <a:solidFill>
                <a:srgbClr val="000000"/>
              </a:solidFill>
              <a:effectLst/>
              <a:uFillTx/>
              <a:latin typeface="Arial"/>
            </a:endParaRPr>
          </a:p>
        </p:txBody>
      </p:sp>
      <p:pic>
        <p:nvPicPr>
          <p:cNvPr id="248" name=""/>
          <p:cNvPicPr/>
          <p:nvPr/>
        </p:nvPicPr>
        <p:blipFill>
          <a:blip r:embed="rId2"/>
          <a:stretch/>
        </p:blipFill>
        <p:spPr>
          <a:xfrm>
            <a:off x="1184400" y="1706400"/>
            <a:ext cx="1371600" cy="776520"/>
          </a:xfrm>
          <a:prstGeom prst="rect">
            <a:avLst/>
          </a:prstGeom>
          <a:noFill/>
          <a:ln w="0">
            <a:noFill/>
          </a:ln>
        </p:spPr>
      </p:pic>
      <p:pic>
        <p:nvPicPr>
          <p:cNvPr id="249" name=""/>
          <p:cNvPicPr/>
          <p:nvPr/>
        </p:nvPicPr>
        <p:blipFill>
          <a:blip r:embed="rId3"/>
          <a:stretch/>
        </p:blipFill>
        <p:spPr>
          <a:xfrm>
            <a:off x="4500720" y="1619280"/>
            <a:ext cx="3862080" cy="3467160"/>
          </a:xfrm>
          <a:prstGeom prst="rect">
            <a:avLst/>
          </a:prstGeom>
          <a:noFill/>
          <a:ln w="9360">
            <a:solidFill>
              <a:srgbClr val="3465A4"/>
            </a:solidFill>
            <a:round/>
          </a:ln>
          <a:effectLst>
            <a:outerShdw dist="101823" dir="2700000" rotWithShape="0">
              <a:srgbClr val="5983B0">
                <a:alpha val="70000"/>
              </a:srgbClr>
            </a:outerShdw>
          </a:effectLst>
        </p:spPr>
      </p:pic>
    </p:spTree>
  </p:cSld>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50" name=""/>
          <p:cNvPicPr/>
          <p:nvPr/>
        </p:nvPicPr>
        <p:blipFill>
          <a:blip r:embed="rId1"/>
          <a:stretch/>
        </p:blipFill>
        <p:spPr>
          <a:xfrm>
            <a:off x="179280" y="147600"/>
            <a:ext cx="9720360" cy="5443560"/>
          </a:xfrm>
          <a:prstGeom prst="rect">
            <a:avLst/>
          </a:prstGeom>
          <a:noFill/>
          <a:ln w="0">
            <a:noFill/>
          </a:ln>
        </p:spPr>
      </p:pic>
      <p:sp>
        <p:nvSpPr>
          <p:cNvPr id="251"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252"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6. Entrenamiento de los modelos (viii)</a:t>
            </a:r>
            <a:endParaRPr lang="es-ES" sz="2400" b="0" u="none" strike="noStrike">
              <a:solidFill>
                <a:srgbClr val="000000"/>
              </a:solidFill>
              <a:effectLst/>
              <a:uFillTx/>
              <a:latin typeface="Arial"/>
            </a:endParaRPr>
          </a:p>
        </p:txBody>
      </p:sp>
      <p:sp>
        <p:nvSpPr>
          <p:cNvPr id="253" name=""/>
          <p:cNvSpPr/>
          <p:nvPr/>
        </p:nvSpPr>
        <p:spPr>
          <a:xfrm>
            <a:off x="736560" y="974880"/>
            <a:ext cx="8442360" cy="53784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7. Clustering (kmeans)</a:t>
            </a:r>
            <a:endParaRPr lang="es-ES" sz="1800" b="0" u="none" strike="noStrike">
              <a:solidFill>
                <a:srgbClr val="000000"/>
              </a:solidFill>
              <a:effectLst/>
              <a:uFillTx/>
              <a:latin typeface="Arial"/>
            </a:endParaRPr>
          </a:p>
        </p:txBody>
      </p:sp>
      <p:sp>
        <p:nvSpPr>
          <p:cNvPr id="254" name=""/>
          <p:cNvSpPr/>
          <p:nvPr/>
        </p:nvSpPr>
        <p:spPr>
          <a:xfrm>
            <a:off x="900000" y="1619280"/>
            <a:ext cx="7920000" cy="115092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100" b="1" u="none" strike="noStrike">
                <a:solidFill>
                  <a:srgbClr val="000000"/>
                </a:solidFill>
                <a:effectLst/>
                <a:uFillTx/>
                <a:latin typeface="Bahnschrift SemiLight"/>
              </a:rPr>
              <a:t>xxx</a:t>
            </a:r>
            <a:endParaRPr lang="es-ES" sz="1100" b="0" u="none" strike="noStrike">
              <a:solidFill>
                <a:srgbClr val="000000"/>
              </a:solidFill>
              <a:effectLst/>
              <a:uFillTx/>
              <a:latin typeface="Arial"/>
            </a:endParaRPr>
          </a:p>
        </p:txBody>
      </p:sp>
      <p:pic>
        <p:nvPicPr>
          <p:cNvPr id="255" name=""/>
          <p:cNvPicPr/>
          <p:nvPr/>
        </p:nvPicPr>
        <p:blipFill>
          <a:blip r:embed="rId2"/>
          <a:stretch/>
        </p:blipFill>
        <p:spPr>
          <a:xfrm>
            <a:off x="1079640" y="2700360"/>
            <a:ext cx="3927240" cy="2587680"/>
          </a:xfrm>
          <a:prstGeom prst="rect">
            <a:avLst/>
          </a:prstGeom>
          <a:noFill/>
          <a:ln w="9360">
            <a:solidFill>
              <a:srgbClr val="3465A4"/>
            </a:solidFill>
            <a:round/>
          </a:ln>
          <a:effectLst>
            <a:outerShdw dist="101823" dir="2700000" rotWithShape="0">
              <a:srgbClr val="5983B0">
                <a:alpha val="70000"/>
              </a:srgbClr>
            </a:outerShdw>
          </a:effectLst>
        </p:spPr>
      </p:pic>
      <p:pic>
        <p:nvPicPr>
          <p:cNvPr id="256" name=""/>
          <p:cNvPicPr/>
          <p:nvPr/>
        </p:nvPicPr>
        <p:blipFill>
          <a:blip r:embed="rId3"/>
          <a:stretch/>
        </p:blipFill>
        <p:spPr>
          <a:xfrm>
            <a:off x="5159520" y="2700360"/>
            <a:ext cx="3890880" cy="2587680"/>
          </a:xfrm>
          <a:prstGeom prst="rect">
            <a:avLst/>
          </a:prstGeom>
          <a:noFill/>
          <a:ln w="9360">
            <a:solidFill>
              <a:srgbClr val="3465A4"/>
            </a:solidFill>
            <a:round/>
          </a:ln>
          <a:effectLst>
            <a:outerShdw dist="101823" dir="2700000" rotWithShape="0">
              <a:srgbClr val="5983B0">
                <a:alpha val="70000"/>
              </a:srgbClr>
            </a:outerShdw>
          </a:effectLst>
        </p:spPr>
      </p:pic>
    </p:spTree>
  </p:cSld>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57" name=""/>
          <p:cNvPicPr/>
          <p:nvPr/>
        </p:nvPicPr>
        <p:blipFill>
          <a:blip r:embed="rId1"/>
          <a:stretch/>
        </p:blipFill>
        <p:spPr>
          <a:xfrm>
            <a:off x="179280" y="147600"/>
            <a:ext cx="9720360" cy="5443560"/>
          </a:xfrm>
          <a:prstGeom prst="rect">
            <a:avLst/>
          </a:prstGeom>
          <a:noFill/>
          <a:ln w="0">
            <a:noFill/>
          </a:ln>
        </p:spPr>
      </p:pic>
      <p:sp>
        <p:nvSpPr>
          <p:cNvPr id="258"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259"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6. Entrenamiento de los modelos (viii)</a:t>
            </a:r>
            <a:endParaRPr lang="es-ES" sz="2400" b="0" u="none" strike="noStrike">
              <a:solidFill>
                <a:srgbClr val="000000"/>
              </a:solidFill>
              <a:effectLst/>
              <a:uFillTx/>
              <a:latin typeface="Arial"/>
            </a:endParaRPr>
          </a:p>
        </p:txBody>
      </p:sp>
      <p:sp>
        <p:nvSpPr>
          <p:cNvPr id="260" name=""/>
          <p:cNvSpPr/>
          <p:nvPr/>
        </p:nvSpPr>
        <p:spPr>
          <a:xfrm>
            <a:off x="736560" y="974880"/>
            <a:ext cx="8442360" cy="53784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7. Clustering (kmeans)</a:t>
            </a:r>
            <a:endParaRPr lang="es-ES" sz="1800" b="0" u="none" strike="noStrike">
              <a:solidFill>
                <a:srgbClr val="000000"/>
              </a:solidFill>
              <a:effectLst/>
              <a:uFillTx/>
              <a:latin typeface="Arial"/>
            </a:endParaRPr>
          </a:p>
        </p:txBody>
      </p:sp>
      <p:sp>
        <p:nvSpPr>
          <p:cNvPr id="261" name=""/>
          <p:cNvSpPr/>
          <p:nvPr/>
        </p:nvSpPr>
        <p:spPr>
          <a:xfrm>
            <a:off x="900000" y="4319640"/>
            <a:ext cx="4319640" cy="93672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100" b="1" u="none" strike="noStrike">
                <a:solidFill>
                  <a:srgbClr val="000000"/>
                </a:solidFill>
                <a:effectLst/>
                <a:uFillTx/>
                <a:latin typeface="Bahnschrift SemiLight"/>
              </a:rPr>
              <a:t>xxx</a:t>
            </a:r>
            <a:endParaRPr lang="es-ES" sz="1100" b="0" u="none" strike="noStrike">
              <a:solidFill>
                <a:srgbClr val="000000"/>
              </a:solidFill>
              <a:effectLst/>
              <a:uFillTx/>
              <a:latin typeface="Arial"/>
            </a:endParaRPr>
          </a:p>
        </p:txBody>
      </p:sp>
      <p:pic>
        <p:nvPicPr>
          <p:cNvPr id="262" name=""/>
          <p:cNvPicPr/>
          <p:nvPr/>
        </p:nvPicPr>
        <p:blipFill>
          <a:blip r:embed="rId2"/>
          <a:stretch/>
        </p:blipFill>
        <p:spPr>
          <a:xfrm>
            <a:off x="1028880" y="1550880"/>
            <a:ext cx="3927240" cy="2587680"/>
          </a:xfrm>
          <a:prstGeom prst="rect">
            <a:avLst/>
          </a:prstGeom>
          <a:noFill/>
          <a:ln w="9360">
            <a:solidFill>
              <a:srgbClr val="3465A4"/>
            </a:solidFill>
            <a:round/>
          </a:ln>
          <a:effectLst>
            <a:outerShdw dist="101823" dir="2700000" rotWithShape="0">
              <a:srgbClr val="5983B0">
                <a:alpha val="70000"/>
              </a:srgbClr>
            </a:outerShdw>
          </a:effectLst>
        </p:spPr>
      </p:pic>
      <p:pic>
        <p:nvPicPr>
          <p:cNvPr id="263" name=""/>
          <p:cNvPicPr/>
          <p:nvPr/>
        </p:nvPicPr>
        <p:blipFill>
          <a:blip r:embed="rId3"/>
          <a:stretch/>
        </p:blipFill>
        <p:spPr>
          <a:xfrm>
            <a:off x="5108400" y="1550880"/>
            <a:ext cx="3891240" cy="2587680"/>
          </a:xfrm>
          <a:prstGeom prst="rect">
            <a:avLst/>
          </a:prstGeom>
          <a:noFill/>
          <a:ln w="9360">
            <a:solidFill>
              <a:srgbClr val="3465A4"/>
            </a:solidFill>
            <a:round/>
          </a:ln>
          <a:effectLst>
            <a:outerShdw dist="101823" dir="2700000" rotWithShape="0">
              <a:srgbClr val="5983B0">
                <a:alpha val="70000"/>
              </a:srgbClr>
            </a:outerShdw>
          </a:effectLst>
        </p:spPr>
      </p:pic>
      <p:pic>
        <p:nvPicPr>
          <p:cNvPr id="264" name=""/>
          <p:cNvPicPr/>
          <p:nvPr/>
        </p:nvPicPr>
        <p:blipFill>
          <a:blip r:embed="rId4"/>
          <a:stretch/>
        </p:blipFill>
        <p:spPr>
          <a:xfrm>
            <a:off x="5759280" y="4203720"/>
            <a:ext cx="3291120" cy="1195200"/>
          </a:xfrm>
          <a:prstGeom prst="rect">
            <a:avLst/>
          </a:prstGeom>
          <a:noFill/>
          <a:ln w="9360">
            <a:solidFill>
              <a:srgbClr val="3465A4"/>
            </a:solidFill>
            <a:round/>
          </a:ln>
          <a:effectLst>
            <a:outerShdw dist="101823" dir="2700000" rotWithShape="0">
              <a:srgbClr val="5983B0">
                <a:alpha val="70000"/>
              </a:srgbClr>
            </a:outerShdw>
          </a:effectLst>
        </p:spPr>
      </p:pic>
    </p:spTree>
  </p:cSld>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65" name=""/>
          <p:cNvPicPr/>
          <p:nvPr/>
        </p:nvPicPr>
        <p:blipFill>
          <a:blip r:embed="rId1"/>
          <a:stretch/>
        </p:blipFill>
        <p:spPr>
          <a:xfrm>
            <a:off x="179280" y="147600"/>
            <a:ext cx="9720360" cy="5443560"/>
          </a:xfrm>
          <a:prstGeom prst="rect">
            <a:avLst/>
          </a:prstGeom>
          <a:noFill/>
          <a:ln w="0">
            <a:noFill/>
          </a:ln>
        </p:spPr>
      </p:pic>
      <p:sp>
        <p:nvSpPr>
          <p:cNvPr id="266"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267"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7. Elección del Modelo</a:t>
            </a:r>
            <a:endParaRPr lang="es-ES" sz="2400" b="0" u="none" strike="noStrike">
              <a:solidFill>
                <a:srgbClr val="000000"/>
              </a:solidFill>
              <a:effectLst/>
              <a:uFillTx/>
              <a:latin typeface="Arial"/>
            </a:endParaRPr>
          </a:p>
        </p:txBody>
      </p:sp>
      <p:sp>
        <p:nvSpPr>
          <p:cNvPr id="268" name=""/>
          <p:cNvSpPr/>
          <p:nvPr/>
        </p:nvSpPr>
        <p:spPr>
          <a:xfrm>
            <a:off x="736560" y="974880"/>
            <a:ext cx="8442360" cy="53784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800" b="0" u="none" strike="noStrike">
                <a:solidFill>
                  <a:srgbClr val="FFFFFF"/>
                </a:solidFill>
                <a:effectLst/>
                <a:uFillTx/>
                <a:latin typeface="Bahnschrift SemiLight"/>
              </a:rPr>
              <a:t>RESUMEN DE MÉTRICAS</a:t>
            </a:r>
            <a:endParaRPr lang="es-ES" sz="1800" b="0" u="none" strike="noStrike">
              <a:solidFill>
                <a:srgbClr val="000000"/>
              </a:solidFill>
              <a:effectLst/>
              <a:uFillTx/>
              <a:latin typeface="Arial"/>
            </a:endParaRPr>
          </a:p>
        </p:txBody>
      </p:sp>
      <p:sp>
        <p:nvSpPr>
          <p:cNvPr id="269" name=""/>
          <p:cNvSpPr/>
          <p:nvPr/>
        </p:nvSpPr>
        <p:spPr>
          <a:xfrm>
            <a:off x="811080" y="2735280"/>
            <a:ext cx="2880000" cy="241128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100" b="1" u="none" strike="noStrike">
                <a:solidFill>
                  <a:srgbClr val="000000"/>
                </a:solidFill>
                <a:effectLst/>
                <a:uFillTx/>
                <a:latin typeface="Bahnschrift SemiLight"/>
              </a:rPr>
              <a:t>xxx</a:t>
            </a:r>
            <a:endParaRPr lang="es-ES" sz="1100" b="0" u="none" strike="noStrike">
              <a:solidFill>
                <a:srgbClr val="000000"/>
              </a:solidFill>
              <a:effectLst/>
              <a:uFillTx/>
              <a:latin typeface="Arial"/>
            </a:endParaRPr>
          </a:p>
        </p:txBody>
      </p:sp>
    </p:spTree>
  </p:cSld>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70" name=""/>
          <p:cNvPicPr/>
          <p:nvPr/>
        </p:nvPicPr>
        <p:blipFill>
          <a:blip r:embed="rId1"/>
          <a:stretch/>
        </p:blipFill>
        <p:spPr>
          <a:xfrm>
            <a:off x="179280" y="147600"/>
            <a:ext cx="9720360" cy="5443560"/>
          </a:xfrm>
          <a:prstGeom prst="rect">
            <a:avLst/>
          </a:prstGeom>
          <a:noFill/>
          <a:ln w="0">
            <a:noFill/>
          </a:ln>
        </p:spPr>
      </p:pic>
      <p:sp>
        <p:nvSpPr>
          <p:cNvPr id="271" name=""/>
          <p:cNvSpPr/>
          <p:nvPr/>
        </p:nvSpPr>
        <p:spPr>
          <a:xfrm>
            <a:off x="360360" y="5276880"/>
            <a:ext cx="8280360" cy="23184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1" i="1" u="none" strike="noStrike">
                <a:solidFill>
                  <a:srgbClr val="626B75"/>
                </a:solidFill>
                <a:effectLst/>
                <a:uFillTx/>
                <a:latin typeface="Bahnschrift Light:case=1"/>
              </a:rPr>
              <a:t>¿P</a:t>
            </a:r>
            <a:r>
              <a:rPr lang="es-ES" sz="900" b="0" i="1" u="none" strike="noStrike">
                <a:solidFill>
                  <a:srgbClr val="626B75"/>
                </a:solidFill>
                <a:effectLst/>
                <a:uFillTx/>
                <a:latin typeface="Bahnschrift Light"/>
              </a:rPr>
              <a:t>odemos Predecir la Satisfacción con la Vida? Aplicación de Técnicas de Machine Learning a Datos de Bienestar Personal de Euskadi</a:t>
            </a:r>
            <a:endParaRPr lang="es-ES" sz="900" b="0" u="none" strike="noStrike">
              <a:solidFill>
                <a:srgbClr val="000000"/>
              </a:solidFill>
              <a:effectLst/>
              <a:uFillTx/>
              <a:latin typeface="Arial"/>
            </a:endParaRPr>
          </a:p>
        </p:txBody>
      </p:sp>
      <p:sp>
        <p:nvSpPr>
          <p:cNvPr id="272" name=""/>
          <p:cNvSpPr/>
          <p:nvPr/>
        </p:nvSpPr>
        <p:spPr>
          <a:xfrm>
            <a:off x="736560" y="974880"/>
            <a:ext cx="8442360" cy="537840"/>
          </a:xfrm>
          <a:prstGeom prst="roundRect">
            <a:avLst>
              <a:gd name="adj" fmla="val 16667"/>
            </a:avLst>
          </a:prstGeom>
          <a:solidFill>
            <a:srgbClr val="729FCF"/>
          </a:solidFill>
          <a:ln w="9360">
            <a:solidFill>
              <a:srgbClr val="3465A4"/>
            </a:solidFill>
            <a:round/>
          </a:ln>
        </p:spPr>
        <p:style>
          <a:lnRef idx="0"/>
          <a:fillRef idx="0"/>
          <a:effectRef idx="0"/>
          <a:fontRef idx="minor"/>
        </p:style>
        <p:txBody>
          <a:bodyPr wrap="none" lIns="90000" tIns="46800" rIns="90000" bIns="46800" anchor="ctr">
            <a:noAutofit/>
          </a:bodyPr>
          <a:p>
            <a:pPr>
              <a:lnSpc>
                <a:spcPct val="93000"/>
              </a:lnSpc>
              <a:spcBef>
                <a:spcPts val="187"/>
              </a:spcBef>
              <a:spcAft>
                <a:spcPts val="18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s-ES" sz="1800" b="0" u="none" strike="noStrike">
              <a:solidFill>
                <a:srgbClr val="000000"/>
              </a:solidFill>
              <a:effectLst/>
              <a:uFillTx/>
              <a:latin typeface="Arial"/>
            </a:endParaRPr>
          </a:p>
        </p:txBody>
      </p:sp>
      <p:grpSp>
        <p:nvGrpSpPr>
          <p:cNvPr id="273" name=""/>
          <p:cNvGrpSpPr/>
          <p:nvPr/>
        </p:nvGrpSpPr>
        <p:grpSpPr>
          <a:xfrm>
            <a:off x="1025640" y="1584360"/>
            <a:ext cx="1668240" cy="1073160"/>
            <a:chOff x="1025640" y="1584360"/>
            <a:chExt cx="1668240" cy="1073160"/>
          </a:xfrm>
        </p:grpSpPr>
        <p:sp>
          <p:nvSpPr>
            <p:cNvPr id="274" name=""/>
            <p:cNvSpPr/>
            <p:nvPr/>
          </p:nvSpPr>
          <p:spPr>
            <a:xfrm>
              <a:off x="1025640" y="1584360"/>
              <a:ext cx="1668240" cy="107316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es-ES" sz="1400" b="0" u="none" strike="noStrike">
                <a:solidFill>
                  <a:srgbClr val="000000"/>
                </a:solidFill>
                <a:effectLst/>
                <a:uFillTx/>
                <a:latin typeface="Arial"/>
              </a:endParaRPr>
            </a:p>
            <a:p>
              <a:pPr>
                <a:lnSpc>
                  <a:spcPct val="93000"/>
                </a:lnSpc>
                <a:spcBef>
                  <a:spcPts val="913"/>
                </a:spcBef>
                <a:spcAft>
                  <a:spcPts val="62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es-ES" sz="1400" b="0" u="none" strike="noStrike">
                <a:solidFill>
                  <a:srgbClr val="000000"/>
                </a:solidFill>
                <a:effectLst/>
                <a:uFillTx/>
                <a:latin typeface="Arial"/>
              </a:endParaRPr>
            </a:p>
          </p:txBody>
        </p:sp>
        <p:pic>
          <p:nvPicPr>
            <p:cNvPr id="275" name=""/>
            <p:cNvPicPr/>
            <p:nvPr/>
          </p:nvPicPr>
          <p:blipFill>
            <a:blip r:embed="rId2"/>
            <a:stretch/>
          </p:blipFill>
          <p:spPr>
            <a:xfrm>
              <a:off x="1320840" y="1735200"/>
              <a:ext cx="1074600" cy="770040"/>
            </a:xfrm>
            <a:prstGeom prst="rect">
              <a:avLst/>
            </a:prstGeom>
            <a:noFill/>
            <a:ln w="0">
              <a:noFill/>
            </a:ln>
          </p:spPr>
        </p:pic>
      </p:grpSp>
      <p:sp>
        <p:nvSpPr>
          <p:cNvPr id="276" name=""/>
          <p:cNvSpPr/>
          <p:nvPr/>
        </p:nvSpPr>
        <p:spPr>
          <a:xfrm>
            <a:off x="811080" y="2735280"/>
            <a:ext cx="2880000" cy="2411280"/>
          </a:xfrm>
          <a:prstGeom prst="roundRect">
            <a:avLst>
              <a:gd name="adj" fmla="val 16667"/>
            </a:avLst>
          </a:prstGeom>
          <a:solidFill>
            <a:srgbClr val="B4C7DC"/>
          </a:solidFill>
          <a:ln w="9360">
            <a:solidFill>
              <a:srgbClr val="3465A4"/>
            </a:solidFill>
            <a:round/>
          </a:ln>
        </p:spPr>
        <p:style>
          <a:lnRef idx="0"/>
          <a:fillRef idx="0"/>
          <a:effectRef idx="0"/>
          <a:fontRef idx="minor"/>
        </p:style>
        <p:txBody>
          <a:bodyPr lIns="90000" tIns="45000" rIns="90000" bIns="45000" anchor="ctr">
            <a:noAutofit/>
          </a:bodyPr>
          <a:p>
            <a:pPr>
              <a:lnSpc>
                <a:spcPct val="93000"/>
              </a:lnSpc>
              <a:spcBef>
                <a:spcPts val="1239"/>
              </a:spcBef>
              <a:spcAft>
                <a:spcPts val="1037"/>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100" b="1" u="none" strike="noStrike">
                <a:solidFill>
                  <a:srgbClr val="000000"/>
                </a:solidFill>
                <a:effectLst/>
                <a:uFillTx/>
                <a:latin typeface="Bahnschrift SemiLight"/>
              </a:rPr>
              <a:t>xxx</a:t>
            </a:r>
            <a:endParaRPr lang="es-ES" sz="1100" b="0" u="none" strike="noStrike">
              <a:solidFill>
                <a:srgbClr val="000000"/>
              </a:solidFill>
              <a:effectLst/>
              <a:uFillTx/>
              <a:latin typeface="Arial"/>
            </a:endParaRPr>
          </a:p>
        </p:txBody>
      </p:sp>
      <p:sp>
        <p:nvSpPr>
          <p:cNvPr id="277" name=""/>
          <p:cNvSpPr/>
          <p:nvPr/>
        </p:nvSpPr>
        <p:spPr>
          <a:xfrm>
            <a:off x="528480" y="349200"/>
            <a:ext cx="8651880" cy="43020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363"/>
              </a:spcBef>
              <a:spcAft>
                <a:spcPts val="1162"/>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400" b="1" u="none" strike="noStrike">
                <a:solidFill>
                  <a:srgbClr val="626B75"/>
                </a:solidFill>
                <a:effectLst/>
                <a:uFillTx/>
                <a:latin typeface="Bahnschrift Light"/>
              </a:rPr>
              <a:t>7. Elección del Modelo (ii)</a:t>
            </a:r>
            <a:endParaRPr lang="es-ES" sz="2400" b="0" u="none" strike="noStrike">
              <a:solidFill>
                <a:srgbClr val="000000"/>
              </a:solidFill>
              <a:effectLst/>
              <a:uFillTx/>
              <a:latin typeface="Arial"/>
            </a:endParaRPr>
          </a:p>
        </p:txBody>
      </p:sp>
      <p:sp>
        <p:nvSpPr>
          <p:cNvPr id="278" name=""/>
          <p:cNvSpPr/>
          <p:nvPr/>
        </p:nvSpPr>
        <p:spPr>
          <a:xfrm>
            <a:off x="2879640" y="720720"/>
            <a:ext cx="7253280" cy="231840"/>
          </a:xfrm>
          <a:prstGeom prst="rect">
            <a:avLst/>
          </a:prstGeom>
          <a:noFill/>
          <a:ln w="0">
            <a:noFill/>
          </a:ln>
        </p:spPr>
        <p:style>
          <a:lnRef idx="0"/>
          <a:fillRef idx="0"/>
          <a:effectRef idx="0"/>
          <a:fontRef idx="minor"/>
        </p:style>
        <p:txBody>
          <a:bodyPr lIns="90000" tIns="45000" rIns="90000" bIns="45000" anchor="t">
            <a:noAutofit/>
          </a:bodyPr>
          <a:p>
            <a:pPr>
              <a:lnSpc>
                <a:spcPct val="93000"/>
              </a:lnSpc>
              <a:spcBef>
                <a:spcPts val="1199"/>
              </a:spcBef>
              <a:spcAft>
                <a:spcPts val="100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1000" b="0" u="none" strike="noStrike">
                <a:solidFill>
                  <a:srgbClr val="000000"/>
                </a:solidFill>
                <a:effectLst/>
                <a:uFillTx/>
                <a:latin typeface="Arial"/>
              </a:rPr>
              <a:t>Has pasado de comprender el bienestar (EDA y regresión), a predecirlo (clasificación) y finalmente a segmentarlo (K-Means), </a:t>
            </a:r>
            <a:endParaRPr lang="es-ES" sz="1000" b="0" u="none" strike="noStrike">
              <a:solidFill>
                <a:srgbClr val="000000"/>
              </a:solidFill>
              <a:effectLst/>
              <a:uFillTx/>
              <a:latin typeface="Arial"/>
            </a:endParaRPr>
          </a:p>
        </p:txBody>
      </p:sp>
    </p:spTree>
  </p:cSld>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79" name=""/>
          <p:cNvPicPr/>
          <p:nvPr/>
        </p:nvPicPr>
        <p:blipFill>
          <a:blip r:embed="rId1"/>
          <a:stretch/>
        </p:blipFill>
        <p:spPr>
          <a:xfrm>
            <a:off x="179280" y="147600"/>
            <a:ext cx="9720360" cy="5443560"/>
          </a:xfrm>
          <a:prstGeom prst="rect">
            <a:avLst/>
          </a:prstGeom>
          <a:noFill/>
          <a:ln w="0">
            <a:noFill/>
          </a:ln>
        </p:spPr>
      </p:pic>
      <p:sp>
        <p:nvSpPr>
          <p:cNvPr id="280" name=""/>
          <p:cNvSpPr/>
          <p:nvPr/>
        </p:nvSpPr>
        <p:spPr>
          <a:xfrm>
            <a:off x="287280" y="5275440"/>
            <a:ext cx="8280360" cy="231480"/>
          </a:xfrm>
          <a:prstGeom prst="rect">
            <a:avLst/>
          </a:prstGeom>
          <a:solidFill>
            <a:srgbClr val="FFFFFF"/>
          </a:solidFill>
          <a:ln w="0">
            <a:noFill/>
          </a:ln>
        </p:spPr>
        <p:style>
          <a:lnRef idx="0"/>
          <a:fillRef idx="0"/>
          <a:effectRef idx="0"/>
          <a:fontRef idx="minor"/>
        </p:style>
        <p:txBody>
          <a:bodyPr lIns="90000" tIns="45000" rIns="90000" bIns="45000" anchor="t">
            <a:noAutofit/>
          </a:bodyPr>
          <a:p>
            <a:pPr>
              <a:lnSpc>
                <a:spcPct val="93000"/>
              </a:lnSpc>
              <a:spcBef>
                <a:spcPts val="1363"/>
              </a:spcBef>
              <a:spcAft>
                <a:spcPts val="176"/>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900" b="0" i="1" u="none" strike="noStrike">
                <a:solidFill>
                  <a:srgbClr val="626B75"/>
                </a:solidFill>
                <a:effectLst/>
                <a:uFillTx/>
                <a:latin typeface="Bahnschrift Light"/>
              </a:rPr>
              <a:t>DEMOGRAFÍA DE EUSKADI: ANÁLISIS DE PARÁMETROS BÁSICOS y EVOLUCIÓN RECIENTE</a:t>
            </a:r>
            <a:endParaRPr lang="es-ES" sz="900" b="0" u="none" strike="noStrike">
              <a:solidFill>
                <a:srgbClr val="000000"/>
              </a:solidFill>
              <a:effectLst/>
              <a:uFillTx/>
              <a:latin typeface="Arial"/>
            </a:endParaRPr>
          </a:p>
        </p:txBody>
      </p:sp>
      <p:sp>
        <p:nvSpPr>
          <p:cNvPr id="281" name=""/>
          <p:cNvSpPr/>
          <p:nvPr/>
        </p:nvSpPr>
        <p:spPr>
          <a:xfrm>
            <a:off x="1979640" y="1644480"/>
            <a:ext cx="6300720" cy="1632240"/>
          </a:xfrm>
          <a:prstGeom prst="rect">
            <a:avLst/>
          </a:prstGeom>
          <a:solidFill>
            <a:srgbClr val="FFFFFF"/>
          </a:solidFill>
          <a:ln w="9360">
            <a:solidFill>
              <a:srgbClr val="3465A4"/>
            </a:solidFill>
            <a:round/>
          </a:ln>
          <a:effectLst>
            <a:outerShdw dist="101823" dir="2700000" rotWithShape="0">
              <a:srgbClr val="5983B0"/>
            </a:outerShdw>
          </a:effectLst>
        </p:spPr>
        <p:style>
          <a:lnRef idx="0"/>
          <a:fillRef idx="0"/>
          <a:effectRef idx="0"/>
          <a:fontRef idx="minor"/>
        </p:style>
        <p:txBody>
          <a:bodyPr lIns="90000" tIns="45000" rIns="90000" bIns="45000" anchor="t">
            <a:noAutofit/>
          </a:bodyPr>
          <a:p>
            <a:pP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es-ES" sz="1800" b="0" u="none" strike="noStrike">
              <a:solidFill>
                <a:srgbClr val="000000"/>
              </a:solidFill>
              <a:effectLst/>
              <a:uFillTx/>
              <a:latin typeface="Arial"/>
            </a:endParaRPr>
          </a:p>
          <a:p>
            <a:pPr algn="ctr">
              <a:lnSpc>
                <a:spcPct val="93000"/>
              </a:lnSpc>
              <a:spcBef>
                <a:spcPts val="1301"/>
              </a:spcBef>
              <a:spcAft>
                <a:spcPts val="1100"/>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s-ES" sz="2500" b="1" u="none" strike="noStrike">
                <a:solidFill>
                  <a:srgbClr val="626B75"/>
                </a:solidFill>
                <a:effectLst/>
                <a:uFillTx/>
                <a:latin typeface="Bahnschrift Light:case=1"/>
              </a:rPr>
              <a:t>¡GRACIAS POR VUESTRA ATENCIÓN!</a:t>
            </a:r>
            <a:endParaRPr lang="es-ES" sz="2500" b="0" u="none" strike="noStrike">
              <a:solidFill>
                <a:srgbClr val="000000"/>
              </a:solidFill>
              <a:effectLst/>
              <a:uFillTx/>
              <a:latin typeface="Arial"/>
            </a:endParaRPr>
          </a:p>
        </p:txBody>
      </p:sp>
    </p:spTree>
  </p:cSld>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994</TotalTime>
  <Application>LibreOffice/26.2.3.2$Windows_X86_64 LibreOffice_project/70e089b17412e4cb7773e41413306b17a2328c34</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2026-05-14T09:30:15Z</dcterms:created>
  <dc:creator/>
  <dc:description/>
  <dc:language>es-ES</dc:language>
  <cp:lastModifiedBy/>
  <cp:lastPrinted>2026-05-14T22:13:18Z</cp:lastPrinted>
  <dcterms:modified xsi:type="dcterms:W3CDTF">2026-06-13T16:45:40Z</dcterms:modified>
  <cp:revision>191</cp:revision>
  <dc:subject/>
  <dc:title/>
</cp:coreProperties>
</file>